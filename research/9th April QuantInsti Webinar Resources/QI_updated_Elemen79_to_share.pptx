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Open Sans SemiBold"/>
      <p:regular r:id="rId24"/>
      <p:bold r:id="rId25"/>
      <p:italic r:id="rId26"/>
      <p:boldItalic r:id="rId27"/>
    </p:embeddedFont>
    <p:embeddedFont>
      <p:font typeface="Open Sans Medium"/>
      <p:regular r:id="rId28"/>
      <p:bold r:id="rId29"/>
      <p:italic r:id="rId30"/>
      <p:boldItalic r:id="rId31"/>
    </p:embeddedFont>
    <p:embeddedFont>
      <p:font typeface="Open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gFNR94If7ql3Ba0RmqZr+65Rgn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D3993AC-A8BA-486E-BD13-A86FE0C0E203}">
  <a:tblStyle styleId="{3D3993AC-A8BA-486E-BD13-A86FE0C0E203}" styleName="Table_0">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Aptos"/>
          <a:ea typeface="Aptos"/>
          <a:cs typeface="Aptos"/>
        </a:font>
        <a:schemeClr val="lt1"/>
      </a:tcTxStyle>
      <a:tcStyle>
        <a:fill>
          <a:solidFill>
            <a:schemeClr val="accent1"/>
          </a:solidFill>
        </a:fill>
      </a:tcStyle>
    </a:lastCol>
    <a:firstCol>
      <a:tcTxStyle b="on" i="off">
        <a:font>
          <a:latin typeface="Aptos"/>
          <a:ea typeface="Aptos"/>
          <a:cs typeface="Aptos"/>
        </a:font>
        <a:schemeClr val="lt1"/>
      </a:tcTxStyle>
      <a:tcStyle>
        <a:fill>
          <a:solidFill>
            <a:schemeClr val="accent1"/>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OpenSansSemiBold-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SemiBold-italic.fntdata"/><Relationship Id="rId25" Type="http://schemas.openxmlformats.org/officeDocument/2006/relationships/font" Target="fonts/OpenSansSemiBold-bold.fntdata"/><Relationship Id="rId28" Type="http://schemas.openxmlformats.org/officeDocument/2006/relationships/font" Target="fonts/OpenSansMedium-regular.fntdata"/><Relationship Id="rId27" Type="http://schemas.openxmlformats.org/officeDocument/2006/relationships/font" Target="fonts/OpenSansSemiBold-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Mediu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Medium-boldItalic.fntdata"/><Relationship Id="rId30" Type="http://schemas.openxmlformats.org/officeDocument/2006/relationships/font" Target="fonts/OpenSansMedium-italic.fntdata"/><Relationship Id="rId11" Type="http://schemas.openxmlformats.org/officeDocument/2006/relationships/slide" Target="slides/slide6.xml"/><Relationship Id="rId33" Type="http://schemas.openxmlformats.org/officeDocument/2006/relationships/font" Target="fonts/OpenSans-bold.fntdata"/><Relationship Id="rId10" Type="http://schemas.openxmlformats.org/officeDocument/2006/relationships/slide" Target="slides/slide5.xml"/><Relationship Id="rId32" Type="http://schemas.openxmlformats.org/officeDocument/2006/relationships/font" Target="fonts/OpenSans-regular.fntdata"/><Relationship Id="rId13" Type="http://schemas.openxmlformats.org/officeDocument/2006/relationships/slide" Target="slides/slide8.xml"/><Relationship Id="rId35" Type="http://schemas.openxmlformats.org/officeDocument/2006/relationships/font" Target="fonts/OpenSans-boldItalic.fntdata"/><Relationship Id="rId12" Type="http://schemas.openxmlformats.org/officeDocument/2006/relationships/slide" Target="slides/slide7.xml"/><Relationship Id="rId34" Type="http://schemas.openxmlformats.org/officeDocument/2006/relationships/font" Target="fonts/OpenSans-italic.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da622ff8f5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g3da622ff8f5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a622ff8f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g3da622ff8f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a32cebd10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3da32cebd10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da32cebd10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g3da32cebd10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da32cebd10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3da32cebd10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da32cebd10_0_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g3da32cebd10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a32cebd10_0_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g3da32cebd10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da32cebd10_0_8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g3da32cebd10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a32cebd10_0_9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g3da32cebd10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da32cebd10_0_1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g3da32cebd10_0_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da32cebd10_0_1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g3da32cebd10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da32cebd10_0_1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g3da32cebd10_0_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da32cebd10_0_1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g3da32cebd10_0_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da1e5bc07e_0_116"/>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5" name="Google Shape;15;g3da1e5bc07e_0_116"/>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6" name="Google Shape;16;g3da1e5bc07e_0_11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3da1e5bc07e_0_120"/>
          <p:cNvSpPr txBox="1"/>
          <p:nvPr>
            <p:ph type="title"/>
          </p:nvPr>
        </p:nvSpPr>
        <p:spPr>
          <a:xfrm>
            <a:off x="415600" y="2867800"/>
            <a:ext cx="11360700" cy="1122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g3da1e5bc07e_0_12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g3da1e5bc07e_0_123"/>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2" name="Google Shape;22;g3da1e5bc07e_0_123"/>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3" name="Google Shape;23;g3da1e5bc07e_0_12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g3da1e5bc07e_0_127"/>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6" name="Google Shape;26;g3da1e5bc07e_0_127"/>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7" name="Google Shape;27;g3da1e5bc07e_0_127"/>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8" name="Google Shape;28;g3da1e5bc07e_0_12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g3da1e5bc07e_0_132"/>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31" name="Google Shape;31;g3da1e5bc07e_0_13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g3da1e5bc07e_0_135"/>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4" name="Google Shape;34;g3da1e5bc07e_0_135"/>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5" name="Google Shape;35;g3da1e5bc07e_0_13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g3da1e5bc07e_0_139"/>
          <p:cNvSpPr txBox="1"/>
          <p:nvPr>
            <p:ph type="title"/>
          </p:nvPr>
        </p:nvSpPr>
        <p:spPr>
          <a:xfrm>
            <a:off x="653667" y="600200"/>
            <a:ext cx="84903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8" name="Google Shape;38;g3da1e5bc07e_0_13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g3da1e5bc07e_0_142"/>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 name="Google Shape;41;g3da1e5bc07e_0_142"/>
          <p:cNvSpPr txBox="1"/>
          <p:nvPr>
            <p:ph type="title"/>
          </p:nvPr>
        </p:nvSpPr>
        <p:spPr>
          <a:xfrm>
            <a:off x="354000" y="1644233"/>
            <a:ext cx="53937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42" name="Google Shape;42;g3da1e5bc07e_0_142"/>
          <p:cNvSpPr txBox="1"/>
          <p:nvPr>
            <p:ph idx="1" type="subTitle"/>
          </p:nvPr>
        </p:nvSpPr>
        <p:spPr>
          <a:xfrm>
            <a:off x="354000" y="37374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3" name="Google Shape;43;g3da1e5bc07e_0_142"/>
          <p:cNvSpPr txBox="1"/>
          <p:nvPr>
            <p:ph idx="2" type="body"/>
          </p:nvPr>
        </p:nvSpPr>
        <p:spPr>
          <a:xfrm>
            <a:off x="6586000" y="965433"/>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4" name="Google Shape;44;g3da1e5bc07e_0_14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g3da1e5bc07e_0_148"/>
          <p:cNvSpPr txBox="1"/>
          <p:nvPr>
            <p:ph idx="1" type="body"/>
          </p:nvPr>
        </p:nvSpPr>
        <p:spPr>
          <a:xfrm>
            <a:off x="415600" y="5640767"/>
            <a:ext cx="7998300" cy="8067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47" name="Google Shape;47;g3da1e5bc07e_0_14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g3da1e5bc07e_0_151"/>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50" name="Google Shape;50;g3da1e5bc07e_0_151"/>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51" name="Google Shape;51;g3da1e5bc07e_0_15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g3da1e5bc07e_0_15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sp>
        <p:nvSpPr>
          <p:cNvPr id="55" name="Google Shape;55;g3da1e5bc07e_0_15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56" name="Google Shape;56;g3da1e5bc07e_0_15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1600"/>
              </a:spcBef>
              <a:spcAft>
                <a:spcPts val="0"/>
              </a:spcAft>
              <a:buClr>
                <a:schemeClr val="dk1"/>
              </a:buClr>
              <a:buSzPts val="1800"/>
              <a:buChar char="○"/>
              <a:defRPr/>
            </a:lvl2pPr>
            <a:lvl3pPr indent="-342900" lvl="2" marL="1371600" algn="l">
              <a:lnSpc>
                <a:spcPct val="90000"/>
              </a:lnSpc>
              <a:spcBef>
                <a:spcPts val="1600"/>
              </a:spcBef>
              <a:spcAft>
                <a:spcPts val="0"/>
              </a:spcAft>
              <a:buClr>
                <a:schemeClr val="dk1"/>
              </a:buClr>
              <a:buSzPts val="1800"/>
              <a:buChar char="■"/>
              <a:defRPr/>
            </a:lvl3pPr>
            <a:lvl4pPr indent="-342900" lvl="3" marL="1828800" algn="l">
              <a:lnSpc>
                <a:spcPct val="90000"/>
              </a:lnSpc>
              <a:spcBef>
                <a:spcPts val="1600"/>
              </a:spcBef>
              <a:spcAft>
                <a:spcPts val="0"/>
              </a:spcAft>
              <a:buClr>
                <a:schemeClr val="dk1"/>
              </a:buClr>
              <a:buSzPts val="1800"/>
              <a:buChar char="●"/>
              <a:defRPr/>
            </a:lvl4pPr>
            <a:lvl5pPr indent="-342900" lvl="4" marL="2286000" algn="l">
              <a:lnSpc>
                <a:spcPct val="90000"/>
              </a:lnSpc>
              <a:spcBef>
                <a:spcPts val="1600"/>
              </a:spcBef>
              <a:spcAft>
                <a:spcPts val="0"/>
              </a:spcAft>
              <a:buClr>
                <a:schemeClr val="dk1"/>
              </a:buClr>
              <a:buSzPts val="1800"/>
              <a:buChar char="○"/>
              <a:defRPr/>
            </a:lvl5pPr>
            <a:lvl6pPr indent="-342900" lvl="5" marL="2743200" algn="l">
              <a:lnSpc>
                <a:spcPct val="90000"/>
              </a:lnSpc>
              <a:spcBef>
                <a:spcPts val="1600"/>
              </a:spcBef>
              <a:spcAft>
                <a:spcPts val="0"/>
              </a:spcAft>
              <a:buClr>
                <a:schemeClr val="dk1"/>
              </a:buClr>
              <a:buSzPts val="1800"/>
              <a:buChar char="■"/>
              <a:defRPr/>
            </a:lvl6pPr>
            <a:lvl7pPr indent="-342900" lvl="6" marL="3200400" algn="l">
              <a:lnSpc>
                <a:spcPct val="90000"/>
              </a:lnSpc>
              <a:spcBef>
                <a:spcPts val="1600"/>
              </a:spcBef>
              <a:spcAft>
                <a:spcPts val="0"/>
              </a:spcAft>
              <a:buClr>
                <a:schemeClr val="dk1"/>
              </a:buClr>
              <a:buSzPts val="1800"/>
              <a:buChar char="●"/>
              <a:defRPr/>
            </a:lvl7pPr>
            <a:lvl8pPr indent="-342900" lvl="7" marL="3657600" algn="l">
              <a:lnSpc>
                <a:spcPct val="90000"/>
              </a:lnSpc>
              <a:spcBef>
                <a:spcPts val="1600"/>
              </a:spcBef>
              <a:spcAft>
                <a:spcPts val="0"/>
              </a:spcAft>
              <a:buClr>
                <a:schemeClr val="dk1"/>
              </a:buClr>
              <a:buSzPts val="1800"/>
              <a:buChar char="○"/>
              <a:defRPr/>
            </a:lvl8pPr>
            <a:lvl9pPr indent="-342900" lvl="8" marL="4114800" algn="l">
              <a:lnSpc>
                <a:spcPct val="90000"/>
              </a:lnSpc>
              <a:spcBef>
                <a:spcPts val="1600"/>
              </a:spcBef>
              <a:spcAft>
                <a:spcPts val="1600"/>
              </a:spcAft>
              <a:buClr>
                <a:schemeClr val="dk1"/>
              </a:buClr>
              <a:buSzPts val="1800"/>
              <a:buChar char="■"/>
              <a:defRPr/>
            </a:lvl9pPr>
          </a:lstStyle>
          <a:p/>
        </p:txBody>
      </p:sp>
      <p:sp>
        <p:nvSpPr>
          <p:cNvPr id="57" name="Google Shape;57;g3da1e5bc07e_0_15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g3da1e5bc07e_0_15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g3da1e5bc07e_0_15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3da1e5bc07e_0_112"/>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11" name="Google Shape;11;g3da1e5bc07e_0_112"/>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12" name="Google Shape;12;g3da1e5bc07e_0_11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32.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31.png"/><Relationship Id="rId5"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13.png"/><Relationship Id="rId5"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6.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17.png"/><Relationship Id="rId5" Type="http://schemas.openxmlformats.org/officeDocument/2006/relationships/image" Target="../media/image24.png"/><Relationship Id="rId6" Type="http://schemas.openxmlformats.org/officeDocument/2006/relationships/image" Target="../media/image23.png"/><Relationship Id="rId7" Type="http://schemas.openxmlformats.org/officeDocument/2006/relationships/image" Target="../media/image22.png"/><Relationship Id="rId8"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27.png"/><Relationship Id="rId6" Type="http://schemas.openxmlformats.org/officeDocument/2006/relationships/image" Target="../media/image30.png"/><Relationship Id="rId7"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28.png"/><Relationship Id="rId5" Type="http://schemas.openxmlformats.org/officeDocument/2006/relationships/image" Target="../media/image26.png"/><Relationship Id="rId6" Type="http://schemas.openxmlformats.org/officeDocument/2006/relationships/image" Target="../media/image21.png"/><Relationship Id="rId7"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
          <p:cNvSpPr/>
          <p:nvPr/>
        </p:nvSpPr>
        <p:spPr>
          <a:xfrm>
            <a:off x="0" y="10272"/>
            <a:ext cx="12179100" cy="6850800"/>
          </a:xfrm>
          <a:prstGeom prst="rect">
            <a:avLst/>
          </a:prstGeom>
          <a:solidFill>
            <a:srgbClr val="00274D"/>
          </a:solidFill>
          <a:ln>
            <a:noFill/>
          </a:ln>
        </p:spPr>
        <p:txBody>
          <a:bodyPr anchorCtr="0" anchor="ctr" bIns="121775" lIns="121775" spcFirstLastPara="1" rIns="121775" wrap="square" tIns="121775">
            <a:noAutofit/>
          </a:bodyPr>
          <a:lstStyle/>
          <a:p>
            <a:pPr indent="0" lvl="0" marL="0" rtl="0" algn="ctr">
              <a:spcBef>
                <a:spcPts val="0"/>
              </a:spcBef>
              <a:spcAft>
                <a:spcPts val="0"/>
              </a:spcAft>
              <a:buNone/>
            </a:pPr>
            <a:r>
              <a:t/>
            </a:r>
            <a:endParaRPr sz="1865"/>
          </a:p>
        </p:txBody>
      </p:sp>
      <p:sp>
        <p:nvSpPr>
          <p:cNvPr id="65" name="Google Shape;65;p1"/>
          <p:cNvSpPr/>
          <p:nvPr/>
        </p:nvSpPr>
        <p:spPr>
          <a:xfrm flipH="1">
            <a:off x="6689791" y="3669358"/>
            <a:ext cx="5489400" cy="3188100"/>
          </a:xfrm>
          <a:prstGeom prst="round1Rect">
            <a:avLst>
              <a:gd fmla="val 50000" name="adj"/>
            </a:avLst>
          </a:prstGeom>
          <a:solidFill>
            <a:srgbClr val="0E3F6F"/>
          </a:solidFill>
          <a:ln>
            <a:noFill/>
          </a:ln>
        </p:spPr>
        <p:txBody>
          <a:bodyPr anchorCtr="0" anchor="ctr" bIns="91325" lIns="91325" spcFirstLastPara="1" rIns="91325" wrap="square" tIns="91325">
            <a:noAutofit/>
          </a:bodyPr>
          <a:lstStyle/>
          <a:p>
            <a:pPr indent="0" lvl="0" marL="0" rtl="0" algn="ctr">
              <a:spcBef>
                <a:spcPts val="0"/>
              </a:spcBef>
              <a:spcAft>
                <a:spcPts val="0"/>
              </a:spcAft>
              <a:buNone/>
            </a:pPr>
            <a:r>
              <a:t/>
            </a:r>
            <a:endParaRPr sz="1465"/>
          </a:p>
        </p:txBody>
      </p:sp>
      <p:sp>
        <p:nvSpPr>
          <p:cNvPr id="66" name="Google Shape;66;p1"/>
          <p:cNvSpPr txBox="1"/>
          <p:nvPr/>
        </p:nvSpPr>
        <p:spPr>
          <a:xfrm>
            <a:off x="7583524" y="5386861"/>
            <a:ext cx="3702000" cy="1055700"/>
          </a:xfrm>
          <a:prstGeom prst="rect">
            <a:avLst/>
          </a:prstGeom>
          <a:noFill/>
          <a:ln>
            <a:noFill/>
          </a:ln>
        </p:spPr>
        <p:txBody>
          <a:bodyPr anchorCtr="0" anchor="ctr" bIns="91325" lIns="91325" spcFirstLastPara="1" rIns="91325" wrap="square" tIns="91325">
            <a:noAutofit/>
          </a:bodyPr>
          <a:lstStyle/>
          <a:p>
            <a:pPr indent="0" lvl="0" marL="0" rtl="0" algn="ctr">
              <a:lnSpc>
                <a:spcPct val="115000"/>
              </a:lnSpc>
              <a:spcBef>
                <a:spcPts val="0"/>
              </a:spcBef>
              <a:spcAft>
                <a:spcPts val="0"/>
              </a:spcAft>
              <a:buNone/>
            </a:pPr>
            <a:r>
              <a:rPr lang="en-US" sz="1800">
                <a:solidFill>
                  <a:srgbClr val="FFFFFF"/>
                </a:solidFill>
                <a:latin typeface="Open Sans SemiBold"/>
                <a:ea typeface="Open Sans SemiBold"/>
                <a:cs typeface="Open Sans SemiBold"/>
                <a:sym typeface="Open Sans SemiBold"/>
              </a:rPr>
              <a:t>Speaker</a:t>
            </a:r>
            <a:endParaRPr sz="1800">
              <a:solidFill>
                <a:srgbClr val="FFFFFF"/>
              </a:solidFill>
              <a:latin typeface="Open Sans SemiBold"/>
              <a:ea typeface="Open Sans SemiBold"/>
              <a:cs typeface="Open Sans SemiBold"/>
              <a:sym typeface="Open Sans SemiBold"/>
            </a:endParaRPr>
          </a:p>
          <a:p>
            <a:pPr indent="0" lvl="0" marL="0" rtl="0" algn="ctr">
              <a:lnSpc>
                <a:spcPct val="115000"/>
              </a:lnSpc>
              <a:spcBef>
                <a:spcPts val="799"/>
              </a:spcBef>
              <a:spcAft>
                <a:spcPts val="0"/>
              </a:spcAft>
              <a:buNone/>
            </a:pPr>
            <a:r>
              <a:rPr b="1" lang="en-US" sz="2397">
                <a:solidFill>
                  <a:srgbClr val="FFFFFF"/>
                </a:solidFill>
                <a:latin typeface="Open Sans"/>
                <a:ea typeface="Open Sans"/>
                <a:cs typeface="Open Sans"/>
                <a:sym typeface="Open Sans"/>
              </a:rPr>
              <a:t>Kelvin Foo</a:t>
            </a:r>
            <a:endParaRPr b="1" sz="2397">
              <a:solidFill>
                <a:srgbClr val="FFFFFF"/>
              </a:solidFill>
              <a:latin typeface="Open Sans"/>
              <a:ea typeface="Open Sans"/>
              <a:cs typeface="Open Sans"/>
              <a:sym typeface="Open Sans"/>
            </a:endParaRPr>
          </a:p>
        </p:txBody>
      </p:sp>
      <p:cxnSp>
        <p:nvCxnSpPr>
          <p:cNvPr id="67" name="Google Shape;67;p1"/>
          <p:cNvCxnSpPr/>
          <p:nvPr/>
        </p:nvCxnSpPr>
        <p:spPr>
          <a:xfrm>
            <a:off x="753289" y="3527359"/>
            <a:ext cx="405900" cy="0"/>
          </a:xfrm>
          <a:prstGeom prst="straightConnector1">
            <a:avLst/>
          </a:prstGeom>
          <a:noFill/>
          <a:ln cap="flat" cmpd="sng" w="76125">
            <a:solidFill>
              <a:srgbClr val="78C92B"/>
            </a:solidFill>
            <a:prstDash val="solid"/>
            <a:round/>
            <a:headEnd len="med" w="med" type="none"/>
            <a:tailEnd len="med" w="med" type="none"/>
          </a:ln>
        </p:spPr>
      </p:cxnSp>
      <p:sp>
        <p:nvSpPr>
          <p:cNvPr id="68" name="Google Shape;68;p1"/>
          <p:cNvSpPr txBox="1"/>
          <p:nvPr/>
        </p:nvSpPr>
        <p:spPr>
          <a:xfrm>
            <a:off x="605150" y="4154350"/>
            <a:ext cx="6176700" cy="806100"/>
          </a:xfrm>
          <a:prstGeom prst="rect">
            <a:avLst/>
          </a:prstGeom>
          <a:noFill/>
          <a:ln>
            <a:noFill/>
          </a:ln>
        </p:spPr>
        <p:txBody>
          <a:bodyPr anchorCtr="0" anchor="ctr" bIns="91325" lIns="91325" spcFirstLastPara="1" rIns="91325" wrap="square" tIns="91325">
            <a:noAutofit/>
          </a:bodyPr>
          <a:lstStyle/>
          <a:p>
            <a:pPr indent="0" lvl="0" marL="0" rtl="0" algn="l">
              <a:lnSpc>
                <a:spcPct val="150000"/>
              </a:lnSpc>
              <a:spcBef>
                <a:spcPts val="0"/>
              </a:spcBef>
              <a:spcAft>
                <a:spcPts val="0"/>
              </a:spcAft>
              <a:buNone/>
            </a:pPr>
            <a:r>
              <a:rPr b="1" lang="en-US" sz="2600">
                <a:solidFill>
                  <a:srgbClr val="78C92B"/>
                </a:solidFill>
                <a:latin typeface="Open Sans"/>
                <a:ea typeface="Open Sans"/>
                <a:cs typeface="Open Sans"/>
                <a:sym typeface="Open Sans"/>
              </a:rPr>
              <a:t>Algorithmic Trading &amp;</a:t>
            </a:r>
            <a:endParaRPr b="1" sz="2600">
              <a:solidFill>
                <a:srgbClr val="78C92B"/>
              </a:solidFill>
              <a:latin typeface="Open Sans"/>
              <a:ea typeface="Open Sans"/>
              <a:cs typeface="Open Sans"/>
              <a:sym typeface="Open Sans"/>
            </a:endParaRPr>
          </a:p>
          <a:p>
            <a:pPr indent="0" lvl="0" marL="0" rtl="0" algn="l">
              <a:lnSpc>
                <a:spcPct val="150000"/>
              </a:lnSpc>
              <a:spcBef>
                <a:spcPts val="0"/>
              </a:spcBef>
              <a:spcAft>
                <a:spcPts val="0"/>
              </a:spcAft>
              <a:buNone/>
            </a:pPr>
            <a:r>
              <a:rPr b="1" lang="en-US" sz="2600">
                <a:solidFill>
                  <a:srgbClr val="78C92B"/>
                </a:solidFill>
                <a:latin typeface="Open Sans"/>
                <a:ea typeface="Open Sans"/>
                <a:cs typeface="Open Sans"/>
                <a:sym typeface="Open Sans"/>
              </a:rPr>
              <a:t>Options Risk Management</a:t>
            </a:r>
            <a:endParaRPr b="1" sz="2600">
              <a:solidFill>
                <a:srgbClr val="78C92B"/>
              </a:solidFill>
              <a:latin typeface="Open Sans"/>
              <a:ea typeface="Open Sans"/>
              <a:cs typeface="Open Sans"/>
              <a:sym typeface="Open Sans"/>
            </a:endParaRPr>
          </a:p>
        </p:txBody>
      </p:sp>
      <p:pic>
        <p:nvPicPr>
          <p:cNvPr id="69" name="Google Shape;69;p1"/>
          <p:cNvPicPr preferRelativeResize="0"/>
          <p:nvPr/>
        </p:nvPicPr>
        <p:blipFill>
          <a:blip r:embed="rId3">
            <a:alphaModFix/>
          </a:blip>
          <a:stretch>
            <a:fillRect/>
          </a:stretch>
        </p:blipFill>
        <p:spPr>
          <a:xfrm>
            <a:off x="10690154" y="-19221"/>
            <a:ext cx="1501840" cy="1342982"/>
          </a:xfrm>
          <a:prstGeom prst="rect">
            <a:avLst/>
          </a:prstGeom>
          <a:noFill/>
          <a:ln>
            <a:noFill/>
          </a:ln>
        </p:spPr>
      </p:pic>
      <p:sp>
        <p:nvSpPr>
          <p:cNvPr id="70" name="Google Shape;70;p1"/>
          <p:cNvSpPr txBox="1"/>
          <p:nvPr/>
        </p:nvSpPr>
        <p:spPr>
          <a:xfrm>
            <a:off x="567425" y="842625"/>
            <a:ext cx="6927000" cy="2280600"/>
          </a:xfrm>
          <a:prstGeom prst="rect">
            <a:avLst/>
          </a:prstGeom>
          <a:noFill/>
          <a:ln>
            <a:noFill/>
          </a:ln>
        </p:spPr>
        <p:txBody>
          <a:bodyPr anchorCtr="0" anchor="ctr" bIns="121775" lIns="121775" spcFirstLastPara="1" rIns="121775" wrap="square" tIns="121775">
            <a:noAutofit/>
          </a:bodyPr>
          <a:lstStyle/>
          <a:p>
            <a:pPr indent="0" lvl="0" marL="0" rtl="0" algn="l">
              <a:lnSpc>
                <a:spcPct val="130000"/>
              </a:lnSpc>
              <a:spcBef>
                <a:spcPts val="0"/>
              </a:spcBef>
              <a:spcAft>
                <a:spcPts val="0"/>
              </a:spcAft>
              <a:buNone/>
            </a:pPr>
            <a:r>
              <a:rPr b="1" lang="en-US" sz="5000">
                <a:solidFill>
                  <a:srgbClr val="FFFFFF"/>
                </a:solidFill>
                <a:latin typeface="Open Sans"/>
                <a:ea typeface="Open Sans"/>
                <a:cs typeface="Open Sans"/>
                <a:sym typeface="Open Sans"/>
              </a:rPr>
              <a:t>AI-augmented quant trading strategies</a:t>
            </a:r>
            <a:endParaRPr b="1" sz="5000">
              <a:solidFill>
                <a:srgbClr val="FFFFFF"/>
              </a:solidFill>
              <a:latin typeface="Open Sans"/>
              <a:ea typeface="Open Sans"/>
              <a:cs typeface="Open Sans"/>
              <a:sym typeface="Open Sans"/>
            </a:endParaRPr>
          </a:p>
        </p:txBody>
      </p:sp>
      <p:sp>
        <p:nvSpPr>
          <p:cNvPr id="71" name="Google Shape;71;p1"/>
          <p:cNvSpPr txBox="1"/>
          <p:nvPr/>
        </p:nvSpPr>
        <p:spPr>
          <a:xfrm>
            <a:off x="605150" y="5308891"/>
            <a:ext cx="5093400" cy="806100"/>
          </a:xfrm>
          <a:prstGeom prst="rect">
            <a:avLst/>
          </a:prstGeom>
          <a:noFill/>
          <a:ln>
            <a:noFill/>
          </a:ln>
        </p:spPr>
        <p:txBody>
          <a:bodyPr anchorCtr="0" anchor="ctr" bIns="91325" lIns="91325" spcFirstLastPara="1" rIns="91325" wrap="square" tIns="91325">
            <a:noAutofit/>
          </a:bodyPr>
          <a:lstStyle/>
          <a:p>
            <a:pPr indent="0" lvl="0" marL="0" rtl="0" algn="l">
              <a:lnSpc>
                <a:spcPct val="150000"/>
              </a:lnSpc>
              <a:spcBef>
                <a:spcPts val="0"/>
              </a:spcBef>
              <a:spcAft>
                <a:spcPts val="0"/>
              </a:spcAft>
              <a:buNone/>
            </a:pPr>
            <a:r>
              <a:rPr lang="en-US" sz="2264">
                <a:solidFill>
                  <a:srgbClr val="78C92B"/>
                </a:solidFill>
                <a:latin typeface="Open Sans SemiBold"/>
                <a:ea typeface="Open Sans SemiBold"/>
                <a:cs typeface="Open Sans SemiBold"/>
                <a:sym typeface="Open Sans SemiBold"/>
              </a:rPr>
              <a:t>9 April 2026</a:t>
            </a:r>
            <a:endParaRPr sz="2264">
              <a:solidFill>
                <a:srgbClr val="78C92B"/>
              </a:solidFill>
              <a:latin typeface="Open Sans SemiBold"/>
              <a:ea typeface="Open Sans SemiBold"/>
              <a:cs typeface="Open Sans SemiBold"/>
              <a:sym typeface="Open Sans SemiBold"/>
            </a:endParaRPr>
          </a:p>
        </p:txBody>
      </p:sp>
      <p:pic>
        <p:nvPicPr>
          <p:cNvPr id="72" name="Google Shape;72;p1"/>
          <p:cNvPicPr preferRelativeResize="0"/>
          <p:nvPr/>
        </p:nvPicPr>
        <p:blipFill>
          <a:blip r:embed="rId4">
            <a:alphaModFix/>
          </a:blip>
          <a:stretch>
            <a:fillRect/>
          </a:stretch>
        </p:blipFill>
        <p:spPr>
          <a:xfrm>
            <a:off x="8139100" y="2450375"/>
            <a:ext cx="2590800" cy="2590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g3da622ff8f5_0_24"/>
          <p:cNvSpPr/>
          <p:nvPr/>
        </p:nvSpPr>
        <p:spPr>
          <a:xfrm>
            <a:off x="0" y="10272"/>
            <a:ext cx="12179100" cy="6850800"/>
          </a:xfrm>
          <a:prstGeom prst="rect">
            <a:avLst/>
          </a:prstGeom>
          <a:solidFill>
            <a:srgbClr val="00274D"/>
          </a:solidFill>
          <a:ln>
            <a:noFill/>
          </a:ln>
        </p:spPr>
        <p:txBody>
          <a:bodyPr anchorCtr="0" anchor="ctr" bIns="121775" lIns="121775" spcFirstLastPara="1" rIns="121775" wrap="square" tIns="121775">
            <a:noAutofit/>
          </a:bodyPr>
          <a:lstStyle/>
          <a:p>
            <a:pPr indent="0" lvl="0" marL="0" rtl="0" algn="ctr">
              <a:spcBef>
                <a:spcPts val="0"/>
              </a:spcBef>
              <a:spcAft>
                <a:spcPts val="0"/>
              </a:spcAft>
              <a:buNone/>
            </a:pPr>
            <a:r>
              <a:t/>
            </a:r>
            <a:endParaRPr sz="1865"/>
          </a:p>
        </p:txBody>
      </p:sp>
      <p:grpSp>
        <p:nvGrpSpPr>
          <p:cNvPr id="78" name="Google Shape;78;g3da622ff8f5_0_24"/>
          <p:cNvGrpSpPr/>
          <p:nvPr/>
        </p:nvGrpSpPr>
        <p:grpSpPr>
          <a:xfrm>
            <a:off x="1013938" y="2384076"/>
            <a:ext cx="2772000" cy="2772000"/>
            <a:chOff x="700050" y="2130650"/>
            <a:chExt cx="2772000" cy="2772000"/>
          </a:xfrm>
        </p:grpSpPr>
        <p:sp>
          <p:nvSpPr>
            <p:cNvPr id="79" name="Google Shape;79;g3da622ff8f5_0_24"/>
            <p:cNvSpPr/>
            <p:nvPr/>
          </p:nvSpPr>
          <p:spPr>
            <a:xfrm>
              <a:off x="700050" y="2130650"/>
              <a:ext cx="2772000" cy="2772000"/>
            </a:xfrm>
            <a:prstGeom prst="ellipse">
              <a:avLst/>
            </a:prstGeom>
            <a:solidFill>
              <a:srgbClr val="6390C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0" name="Google Shape;80;g3da622ff8f5_0_24"/>
            <p:cNvPicPr preferRelativeResize="0"/>
            <p:nvPr/>
          </p:nvPicPr>
          <p:blipFill>
            <a:blip r:embed="rId3">
              <a:alphaModFix/>
            </a:blip>
            <a:stretch>
              <a:fillRect/>
            </a:stretch>
          </p:blipFill>
          <p:spPr>
            <a:xfrm>
              <a:off x="790650" y="2221250"/>
              <a:ext cx="2590800" cy="2590800"/>
            </a:xfrm>
            <a:prstGeom prst="rect">
              <a:avLst/>
            </a:prstGeom>
            <a:noFill/>
            <a:ln>
              <a:noFill/>
            </a:ln>
          </p:spPr>
        </p:pic>
      </p:grpSp>
      <p:grpSp>
        <p:nvGrpSpPr>
          <p:cNvPr id="81" name="Google Shape;81;g3da622ff8f5_0_24"/>
          <p:cNvGrpSpPr/>
          <p:nvPr/>
        </p:nvGrpSpPr>
        <p:grpSpPr>
          <a:xfrm>
            <a:off x="4371948" y="1606164"/>
            <a:ext cx="7113900" cy="4042735"/>
            <a:chOff x="4166050" y="1922930"/>
            <a:chExt cx="7113900" cy="4042735"/>
          </a:xfrm>
        </p:grpSpPr>
        <p:sp>
          <p:nvSpPr>
            <p:cNvPr id="82" name="Google Shape;82;g3da622ff8f5_0_24"/>
            <p:cNvSpPr txBox="1"/>
            <p:nvPr/>
          </p:nvSpPr>
          <p:spPr>
            <a:xfrm>
              <a:off x="4166056" y="1922930"/>
              <a:ext cx="2722800" cy="460200"/>
            </a:xfrm>
            <a:prstGeom prst="rect">
              <a:avLst/>
            </a:prstGeom>
            <a:noFill/>
            <a:ln>
              <a:noFill/>
            </a:ln>
          </p:spPr>
          <p:txBody>
            <a:bodyPr anchorCtr="0" anchor="t" bIns="149525" lIns="149525" spcFirstLastPara="1" rIns="149525" wrap="square" tIns="149525">
              <a:noAutofit/>
            </a:bodyPr>
            <a:lstStyle/>
            <a:p>
              <a:pPr indent="0" lvl="0" marL="0" marR="0" rtl="0" algn="l">
                <a:lnSpc>
                  <a:spcPct val="115000"/>
                </a:lnSpc>
                <a:spcBef>
                  <a:spcPts val="0"/>
                </a:spcBef>
                <a:spcAft>
                  <a:spcPts val="2617"/>
                </a:spcAft>
                <a:buNone/>
              </a:pPr>
              <a:r>
                <a:rPr b="1" lang="en-US" sz="2200">
                  <a:solidFill>
                    <a:srgbClr val="FFFFFF"/>
                  </a:solidFill>
                  <a:latin typeface="Open Sans"/>
                  <a:ea typeface="Open Sans"/>
                  <a:cs typeface="Open Sans"/>
                  <a:sym typeface="Open Sans"/>
                </a:rPr>
                <a:t>Dr Kelvin Foo</a:t>
              </a:r>
              <a:endParaRPr b="1" sz="2200">
                <a:solidFill>
                  <a:srgbClr val="FFFFFF"/>
                </a:solidFill>
                <a:latin typeface="Open Sans"/>
                <a:ea typeface="Open Sans"/>
                <a:cs typeface="Open Sans"/>
                <a:sym typeface="Open Sans"/>
              </a:endParaRPr>
            </a:p>
          </p:txBody>
        </p:sp>
        <p:sp>
          <p:nvSpPr>
            <p:cNvPr id="83" name="Google Shape;83;g3da622ff8f5_0_24"/>
            <p:cNvSpPr txBox="1"/>
            <p:nvPr/>
          </p:nvSpPr>
          <p:spPr>
            <a:xfrm>
              <a:off x="4166050" y="2490037"/>
              <a:ext cx="7113900" cy="628200"/>
            </a:xfrm>
            <a:prstGeom prst="rect">
              <a:avLst/>
            </a:prstGeom>
            <a:noFill/>
            <a:ln>
              <a:noFill/>
            </a:ln>
          </p:spPr>
          <p:txBody>
            <a:bodyPr anchorCtr="0" anchor="t" bIns="149525" lIns="149525" spcFirstLastPara="1" rIns="149525" wrap="square" tIns="149525">
              <a:noAutofit/>
            </a:bodyPr>
            <a:lstStyle/>
            <a:p>
              <a:pPr indent="0" lvl="0" marL="0" rtl="0" algn="l">
                <a:lnSpc>
                  <a:spcPct val="115000"/>
                </a:lnSpc>
                <a:spcBef>
                  <a:spcPts val="1963"/>
                </a:spcBef>
                <a:spcAft>
                  <a:spcPts val="1963"/>
                </a:spcAft>
                <a:buNone/>
              </a:pPr>
              <a:r>
                <a:rPr lang="en-US" sz="1800">
                  <a:solidFill>
                    <a:srgbClr val="B8FFEB"/>
                  </a:solidFill>
                  <a:latin typeface="Open Sans SemiBold"/>
                  <a:ea typeface="Open Sans SemiBold"/>
                  <a:cs typeface="Open Sans SemiBold"/>
                  <a:sym typeface="Open Sans SemiBold"/>
                </a:rPr>
                <a:t>Founder and Managing Partner, Elemen79 | EPAT Alumnus</a:t>
              </a:r>
              <a:endParaRPr sz="1800">
                <a:solidFill>
                  <a:srgbClr val="B8FFEB"/>
                </a:solidFill>
                <a:latin typeface="Open Sans SemiBold"/>
                <a:ea typeface="Open Sans SemiBold"/>
                <a:cs typeface="Open Sans SemiBold"/>
                <a:sym typeface="Open Sans SemiBold"/>
              </a:endParaRPr>
            </a:p>
          </p:txBody>
        </p:sp>
        <p:cxnSp>
          <p:nvCxnSpPr>
            <p:cNvPr id="84" name="Google Shape;84;g3da622ff8f5_0_24"/>
            <p:cNvCxnSpPr/>
            <p:nvPr/>
          </p:nvCxnSpPr>
          <p:spPr>
            <a:xfrm>
              <a:off x="4339218" y="3225053"/>
              <a:ext cx="6465600" cy="0"/>
            </a:xfrm>
            <a:prstGeom prst="straightConnector1">
              <a:avLst/>
            </a:prstGeom>
            <a:noFill/>
            <a:ln cap="flat" cmpd="sng" w="46725">
              <a:solidFill>
                <a:srgbClr val="33619F"/>
              </a:solidFill>
              <a:prstDash val="solid"/>
              <a:round/>
              <a:headEnd len="sm" w="sm" type="none"/>
              <a:tailEnd len="sm" w="sm" type="none"/>
            </a:ln>
          </p:spPr>
        </p:cxnSp>
        <p:sp>
          <p:nvSpPr>
            <p:cNvPr id="85" name="Google Shape;85;g3da622ff8f5_0_24"/>
            <p:cNvSpPr txBox="1"/>
            <p:nvPr/>
          </p:nvSpPr>
          <p:spPr>
            <a:xfrm>
              <a:off x="4166050" y="3351765"/>
              <a:ext cx="6480600" cy="2613900"/>
            </a:xfrm>
            <a:prstGeom prst="rect">
              <a:avLst/>
            </a:prstGeom>
            <a:noFill/>
            <a:ln>
              <a:noFill/>
            </a:ln>
          </p:spPr>
          <p:txBody>
            <a:bodyPr anchorCtr="0" anchor="t" bIns="149525" lIns="149525" spcFirstLastPara="1" rIns="149525" wrap="square" tIns="149525">
              <a:noAutofit/>
            </a:bodyPr>
            <a:lstStyle/>
            <a:p>
              <a:pPr indent="0" lvl="0" marL="0" rtl="0" algn="l">
                <a:lnSpc>
                  <a:spcPct val="130000"/>
                </a:lnSpc>
                <a:spcBef>
                  <a:spcPts val="1963"/>
                </a:spcBef>
                <a:spcAft>
                  <a:spcPts val="1963"/>
                </a:spcAft>
                <a:buNone/>
              </a:pPr>
              <a:r>
                <a:rPr lang="en-US" sz="1572">
                  <a:solidFill>
                    <a:srgbClr val="FFFFFF"/>
                  </a:solidFill>
                  <a:latin typeface="Open Sans"/>
                  <a:ea typeface="Open Sans"/>
                  <a:cs typeface="Open Sans"/>
                  <a:sym typeface="Open Sans"/>
                </a:rPr>
                <a:t>Dr Kelvin Foo is the Founder and Managing Partner at Elemen79. He has experience in asset management, private banking, insurance and technology. His expertise lies in quant methods, risk management and AI applications in financial markets. Kelvin holds a PhD in Finance from EDHEC, an MBA in International Business &amp; Finance from Imperial College, an MSc in Risk and Asset Management from EDHEC, and a BSc in Physics from the National University of Singapore. He has completed EPAT, CAIA and many other professional certifications.</a:t>
              </a:r>
              <a:endParaRPr sz="1572">
                <a:solidFill>
                  <a:srgbClr val="FFFFFF"/>
                </a:solidFill>
                <a:latin typeface="Open Sans"/>
                <a:ea typeface="Open Sans"/>
                <a:cs typeface="Open Sans"/>
                <a:sym typeface="Open Sans"/>
              </a:endParaRPr>
            </a:p>
          </p:txBody>
        </p:sp>
      </p:grpSp>
      <p:sp>
        <p:nvSpPr>
          <p:cNvPr id="86" name="Google Shape;86;g3da622ff8f5_0_24"/>
          <p:cNvSpPr/>
          <p:nvPr/>
        </p:nvSpPr>
        <p:spPr>
          <a:xfrm>
            <a:off x="0" y="348750"/>
            <a:ext cx="4410750" cy="673800"/>
          </a:xfrm>
          <a:custGeom>
            <a:rect b="b" l="l" r="r" t="t"/>
            <a:pathLst>
              <a:path extrusionOk="0" h="26952" w="176430">
                <a:moveTo>
                  <a:pt x="0" y="0"/>
                </a:moveTo>
                <a:lnTo>
                  <a:pt x="0" y="26952"/>
                </a:lnTo>
                <a:lnTo>
                  <a:pt x="160127" y="26952"/>
                </a:lnTo>
                <a:lnTo>
                  <a:pt x="176430" y="212"/>
                </a:lnTo>
                <a:close/>
              </a:path>
            </a:pathLst>
          </a:custGeom>
          <a:solidFill>
            <a:srgbClr val="6390CE"/>
          </a:solidFill>
          <a:ln>
            <a:noFill/>
          </a:ln>
        </p:spPr>
      </p:sp>
      <p:sp>
        <p:nvSpPr>
          <p:cNvPr id="87" name="Google Shape;87;g3da622ff8f5_0_24"/>
          <p:cNvSpPr/>
          <p:nvPr/>
        </p:nvSpPr>
        <p:spPr>
          <a:xfrm>
            <a:off x="55756" y="348750"/>
            <a:ext cx="3853200" cy="673800"/>
          </a:xfrm>
          <a:prstGeom prst="roundRect">
            <a:avLst>
              <a:gd fmla="val 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200">
                <a:solidFill>
                  <a:schemeClr val="lt1"/>
                </a:solidFill>
                <a:latin typeface="Open Sans"/>
                <a:ea typeface="Open Sans"/>
                <a:cs typeface="Open Sans"/>
                <a:sym typeface="Open Sans"/>
              </a:rPr>
              <a:t>About The Speaker</a:t>
            </a:r>
            <a:endParaRPr sz="2200">
              <a:solidFill>
                <a:schemeClr val="lt1"/>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3da622ff8f5_0_0"/>
          <p:cNvSpPr/>
          <p:nvPr/>
        </p:nvSpPr>
        <p:spPr>
          <a:xfrm>
            <a:off x="4992250" y="-9500"/>
            <a:ext cx="7199700" cy="6969000"/>
          </a:xfrm>
          <a:prstGeom prst="rect">
            <a:avLst/>
          </a:prstGeom>
          <a:solidFill>
            <a:srgbClr val="0027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g3da622ff8f5_0_0"/>
          <p:cNvSpPr/>
          <p:nvPr/>
        </p:nvSpPr>
        <p:spPr>
          <a:xfrm>
            <a:off x="0" y="348750"/>
            <a:ext cx="4410750" cy="673800"/>
          </a:xfrm>
          <a:custGeom>
            <a:rect b="b" l="l" r="r" t="t"/>
            <a:pathLst>
              <a:path extrusionOk="0" h="26952" w="176430">
                <a:moveTo>
                  <a:pt x="0" y="0"/>
                </a:moveTo>
                <a:lnTo>
                  <a:pt x="0" y="26952"/>
                </a:lnTo>
                <a:lnTo>
                  <a:pt x="160127" y="26952"/>
                </a:lnTo>
                <a:lnTo>
                  <a:pt x="176430" y="212"/>
                </a:lnTo>
                <a:close/>
              </a:path>
            </a:pathLst>
          </a:custGeom>
          <a:solidFill>
            <a:srgbClr val="6390CE"/>
          </a:solidFill>
          <a:ln>
            <a:noFill/>
          </a:ln>
        </p:spPr>
      </p:sp>
      <p:sp>
        <p:nvSpPr>
          <p:cNvPr id="94" name="Google Shape;94;g3da622ff8f5_0_0"/>
          <p:cNvSpPr txBox="1"/>
          <p:nvPr/>
        </p:nvSpPr>
        <p:spPr>
          <a:xfrm>
            <a:off x="287375" y="1594623"/>
            <a:ext cx="4332600" cy="4799400"/>
          </a:xfrm>
          <a:prstGeom prst="rect">
            <a:avLst/>
          </a:prstGeom>
          <a:noFill/>
          <a:ln>
            <a:noFill/>
          </a:ln>
        </p:spPr>
        <p:txBody>
          <a:bodyPr anchorCtr="0" anchor="t" bIns="45700" lIns="91425" spcFirstLastPara="1" rIns="91425" wrap="square" tIns="45700">
            <a:spAutoFit/>
          </a:bodyPr>
          <a:lstStyle/>
          <a:p>
            <a:pPr indent="-311150" lvl="0" marL="285750" marR="0" rtl="0" algn="l">
              <a:lnSpc>
                <a:spcPct val="115000"/>
              </a:lnSpc>
              <a:spcBef>
                <a:spcPts val="0"/>
              </a:spcBef>
              <a:spcAft>
                <a:spcPts val="0"/>
              </a:spcAft>
              <a:buClr>
                <a:schemeClr val="dk1"/>
              </a:buClr>
              <a:buSzPts val="2000"/>
              <a:buFont typeface="Open Sans"/>
              <a:buChar char="•"/>
            </a:pPr>
            <a:r>
              <a:rPr i="0" lang="en-US" sz="1600" u="none" cap="none" strike="noStrike">
                <a:solidFill>
                  <a:schemeClr val="dk1"/>
                </a:solidFill>
                <a:latin typeface="Open Sans"/>
                <a:ea typeface="Open Sans"/>
                <a:cs typeface="Open Sans"/>
                <a:sym typeface="Open Sans"/>
              </a:rPr>
              <a:t>Elemen79 democratizes sophisticated investment strategies through AI-augmented insights and quantitative methods</a:t>
            </a:r>
            <a:endParaRPr>
              <a:solidFill>
                <a:schemeClr val="dk1"/>
              </a:solidFill>
              <a:latin typeface="Open Sans"/>
              <a:ea typeface="Open Sans"/>
              <a:cs typeface="Open Sans"/>
              <a:sym typeface="Open Sans"/>
            </a:endParaRPr>
          </a:p>
          <a:p>
            <a:pPr indent="-184150" lvl="0" marL="285750" marR="0" rtl="0" algn="l">
              <a:lnSpc>
                <a:spcPct val="115000"/>
              </a:lnSpc>
              <a:spcBef>
                <a:spcPts val="0"/>
              </a:spcBef>
              <a:spcAft>
                <a:spcPts val="0"/>
              </a:spcAft>
              <a:buClr>
                <a:schemeClr val="dk1"/>
              </a:buClr>
              <a:buSzPts val="1600"/>
              <a:buFont typeface="Arial"/>
              <a:buNone/>
            </a:pPr>
            <a:r>
              <a:t/>
            </a:r>
            <a:endParaRPr i="0" sz="1600" u="none" cap="none" strike="noStrike">
              <a:solidFill>
                <a:schemeClr val="dk1"/>
              </a:solidFill>
              <a:latin typeface="Open Sans"/>
              <a:ea typeface="Open Sans"/>
              <a:cs typeface="Open Sans"/>
              <a:sym typeface="Open Sans"/>
            </a:endParaRPr>
          </a:p>
          <a:p>
            <a:pPr indent="-311150" lvl="0" marL="285750" marR="0" rtl="0" algn="l">
              <a:lnSpc>
                <a:spcPct val="115000"/>
              </a:lnSpc>
              <a:spcBef>
                <a:spcPts val="0"/>
              </a:spcBef>
              <a:spcAft>
                <a:spcPts val="0"/>
              </a:spcAft>
              <a:buClr>
                <a:schemeClr val="dk1"/>
              </a:buClr>
              <a:buSzPts val="2000"/>
              <a:buFont typeface="Open Sans"/>
              <a:buChar char="•"/>
            </a:pPr>
            <a:r>
              <a:rPr lang="en-US" sz="1600">
                <a:solidFill>
                  <a:schemeClr val="dk1"/>
                </a:solidFill>
                <a:latin typeface="Open Sans"/>
                <a:ea typeface="Open Sans"/>
                <a:cs typeface="Open Sans"/>
                <a:sym typeface="Open Sans"/>
              </a:rPr>
              <a:t>It</a:t>
            </a:r>
            <a:r>
              <a:rPr i="0" lang="en-US" sz="1600" u="none" cap="none" strike="noStrike">
                <a:solidFill>
                  <a:schemeClr val="dk1"/>
                </a:solidFill>
                <a:latin typeface="Open Sans"/>
                <a:ea typeface="Open Sans"/>
                <a:cs typeface="Open Sans"/>
                <a:sym typeface="Open Sans"/>
              </a:rPr>
              <a:t> transforms complex market data into actionable intelligence, making institutional-grade investment capabilities accessible to all investors</a:t>
            </a:r>
            <a:endParaRPr>
              <a:solidFill>
                <a:schemeClr val="dk1"/>
              </a:solidFill>
              <a:latin typeface="Open Sans"/>
              <a:ea typeface="Open Sans"/>
              <a:cs typeface="Open Sans"/>
              <a:sym typeface="Open Sans"/>
            </a:endParaRPr>
          </a:p>
          <a:p>
            <a:pPr indent="-184150" lvl="0" marL="285750" marR="0" rtl="0" algn="l">
              <a:lnSpc>
                <a:spcPct val="115000"/>
              </a:lnSpc>
              <a:spcBef>
                <a:spcPts val="0"/>
              </a:spcBef>
              <a:spcAft>
                <a:spcPts val="0"/>
              </a:spcAft>
              <a:buClr>
                <a:schemeClr val="dk1"/>
              </a:buClr>
              <a:buSzPts val="1600"/>
              <a:buFont typeface="Arial"/>
              <a:buNone/>
            </a:pPr>
            <a:r>
              <a:t/>
            </a:r>
            <a:endParaRPr i="0" sz="1600" u="none" cap="none" strike="noStrike">
              <a:solidFill>
                <a:schemeClr val="dk1"/>
              </a:solidFill>
              <a:latin typeface="Open Sans"/>
              <a:ea typeface="Open Sans"/>
              <a:cs typeface="Open Sans"/>
              <a:sym typeface="Open Sans"/>
            </a:endParaRPr>
          </a:p>
          <a:p>
            <a:pPr indent="-311150" lvl="0" marL="285750" marR="0" rtl="0" algn="l">
              <a:lnSpc>
                <a:spcPct val="115000"/>
              </a:lnSpc>
              <a:spcBef>
                <a:spcPts val="0"/>
              </a:spcBef>
              <a:spcAft>
                <a:spcPts val="0"/>
              </a:spcAft>
              <a:buClr>
                <a:schemeClr val="dk1"/>
              </a:buClr>
              <a:buSzPts val="2000"/>
              <a:buFont typeface="Open Sans"/>
              <a:buChar char="•"/>
            </a:pPr>
            <a:r>
              <a:rPr i="0" lang="en-US" sz="1600" u="none" cap="none" strike="noStrike">
                <a:solidFill>
                  <a:schemeClr val="dk1"/>
                </a:solidFill>
                <a:latin typeface="Open Sans"/>
                <a:ea typeface="Open Sans"/>
                <a:cs typeface="Open Sans"/>
                <a:sym typeface="Open Sans"/>
              </a:rPr>
              <a:t>Built with a strong focus on risk management, </a:t>
            </a:r>
            <a:r>
              <a:rPr lang="en-US" sz="1600">
                <a:solidFill>
                  <a:schemeClr val="dk1"/>
                </a:solidFill>
                <a:latin typeface="Open Sans"/>
                <a:ea typeface="Open Sans"/>
                <a:cs typeface="Open Sans"/>
                <a:sym typeface="Open Sans"/>
              </a:rPr>
              <a:t>it</a:t>
            </a:r>
            <a:r>
              <a:rPr i="0" lang="en-US" sz="1600" u="none" cap="none" strike="noStrike">
                <a:solidFill>
                  <a:schemeClr val="dk1"/>
                </a:solidFill>
                <a:latin typeface="Open Sans"/>
                <a:ea typeface="Open Sans"/>
                <a:cs typeface="Open Sans"/>
                <a:sym typeface="Open Sans"/>
              </a:rPr>
              <a:t> combines artificial intelligence with proven quantitative approaches to deliver consistent, risk-adjusted returns while protecting capital across all market conditions</a:t>
            </a:r>
            <a:endParaRPr i="0" sz="1600" u="none" cap="none" strike="noStrike">
              <a:solidFill>
                <a:schemeClr val="dk1"/>
              </a:solidFill>
              <a:latin typeface="Open Sans"/>
              <a:ea typeface="Open Sans"/>
              <a:cs typeface="Open Sans"/>
              <a:sym typeface="Open Sans"/>
            </a:endParaRPr>
          </a:p>
        </p:txBody>
      </p:sp>
      <p:sp>
        <p:nvSpPr>
          <p:cNvPr id="95" name="Google Shape;95;g3da622ff8f5_0_0"/>
          <p:cNvSpPr txBox="1"/>
          <p:nvPr/>
        </p:nvSpPr>
        <p:spPr>
          <a:xfrm>
            <a:off x="5355260" y="1594623"/>
            <a:ext cx="2968800" cy="43791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i="0" lang="en-US" sz="1700" u="none" cap="none" strike="noStrike">
                <a:solidFill>
                  <a:srgbClr val="B8FFEB"/>
                </a:solidFill>
                <a:latin typeface="Open Sans"/>
                <a:ea typeface="Open Sans"/>
                <a:cs typeface="Open Sans"/>
                <a:sym typeface="Open Sans"/>
              </a:rPr>
              <a:t>Investment Capabilities Powered by AI</a:t>
            </a:r>
            <a:endParaRPr sz="1300">
              <a:solidFill>
                <a:srgbClr val="B8FFEB"/>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sz="14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rPr lang="en-US" sz="1400">
                <a:solidFill>
                  <a:schemeClr val="lt1"/>
                </a:solidFill>
                <a:latin typeface="Open Sans"/>
                <a:ea typeface="Open Sans"/>
                <a:cs typeface="Open Sans"/>
                <a:sym typeface="Open Sans"/>
              </a:rPr>
              <a:t>Advanced artificial intelligence algorithms analyze vast amounts of market data to identify patterns, trends, and opportunities that human analysis might miss.</a:t>
            </a:r>
            <a:endParaRPr>
              <a:solidFill>
                <a:schemeClr val="lt1"/>
              </a:solidFill>
              <a:latin typeface="Open Sans"/>
              <a:ea typeface="Open Sans"/>
              <a:cs typeface="Open Sans"/>
              <a:sym typeface="Open Sans"/>
            </a:endParaRPr>
          </a:p>
          <a:p>
            <a:pPr indent="0" lvl="0" marL="457200" marR="0" rtl="0" algn="l">
              <a:lnSpc>
                <a:spcPct val="115000"/>
              </a:lnSpc>
              <a:spcBef>
                <a:spcPts val="0"/>
              </a:spcBef>
              <a:spcAft>
                <a:spcPts val="0"/>
              </a:spcAft>
              <a:buNone/>
            </a:pPr>
            <a:r>
              <a:t/>
            </a:r>
            <a:endParaRPr sz="1400">
              <a:solidFill>
                <a:schemeClr val="lt1"/>
              </a:solidFill>
              <a:latin typeface="Open Sans"/>
              <a:ea typeface="Open Sans"/>
              <a:cs typeface="Open Sans"/>
              <a:sym typeface="Open Sans"/>
            </a:endParaRPr>
          </a:p>
          <a:p>
            <a:pPr indent="-292100" lvl="0" marL="457200" marR="0" rtl="0" algn="l">
              <a:lnSpc>
                <a:spcPct val="115000"/>
              </a:lnSpc>
              <a:spcBef>
                <a:spcPts val="0"/>
              </a:spcBef>
              <a:spcAft>
                <a:spcPts val="0"/>
              </a:spcAft>
              <a:buClr>
                <a:schemeClr val="lt1"/>
              </a:buClr>
              <a:buSzPts val="1000"/>
              <a:buFont typeface="Open Sans"/>
              <a:buChar char="●"/>
            </a:pPr>
            <a:r>
              <a:rPr lang="en-US" sz="1400">
                <a:solidFill>
                  <a:schemeClr val="lt1"/>
                </a:solidFill>
                <a:latin typeface="Open Sans"/>
                <a:ea typeface="Open Sans"/>
                <a:cs typeface="Open Sans"/>
                <a:sym typeface="Open Sans"/>
              </a:rPr>
              <a:t>Machine learning-driven strategy optimization</a:t>
            </a:r>
            <a:endParaRPr>
              <a:solidFill>
                <a:schemeClr val="lt1"/>
              </a:solidFill>
              <a:latin typeface="Open Sans"/>
              <a:ea typeface="Open Sans"/>
              <a:cs typeface="Open Sans"/>
              <a:sym typeface="Open Sans"/>
            </a:endParaRPr>
          </a:p>
          <a:p>
            <a:pPr indent="-292100" lvl="0" marL="457200" marR="0" rtl="0" algn="l">
              <a:lnSpc>
                <a:spcPct val="115000"/>
              </a:lnSpc>
              <a:spcBef>
                <a:spcPts val="0"/>
              </a:spcBef>
              <a:spcAft>
                <a:spcPts val="0"/>
              </a:spcAft>
              <a:buClr>
                <a:schemeClr val="lt1"/>
              </a:buClr>
              <a:buSzPts val="1000"/>
              <a:buFont typeface="Open Sans"/>
              <a:buChar char="●"/>
            </a:pPr>
            <a:r>
              <a:rPr lang="en-US" sz="1400">
                <a:solidFill>
                  <a:schemeClr val="lt1"/>
                </a:solidFill>
                <a:latin typeface="Open Sans"/>
                <a:ea typeface="Open Sans"/>
                <a:cs typeface="Open Sans"/>
                <a:sym typeface="Open Sans"/>
              </a:rPr>
              <a:t>Real-time market sentiment </a:t>
            </a:r>
            <a:endParaRPr>
              <a:solidFill>
                <a:schemeClr val="lt1"/>
              </a:solidFill>
              <a:latin typeface="Open Sans"/>
              <a:ea typeface="Open Sans"/>
              <a:cs typeface="Open Sans"/>
              <a:sym typeface="Open Sans"/>
            </a:endParaRPr>
          </a:p>
          <a:p>
            <a:pPr indent="0" lvl="0" marL="457200" marR="0" rtl="0" algn="l">
              <a:lnSpc>
                <a:spcPct val="115000"/>
              </a:lnSpc>
              <a:spcBef>
                <a:spcPts val="0"/>
              </a:spcBef>
              <a:spcAft>
                <a:spcPts val="0"/>
              </a:spcAft>
              <a:buNone/>
            </a:pPr>
            <a:r>
              <a:rPr lang="en-US" sz="1400">
                <a:solidFill>
                  <a:schemeClr val="lt1"/>
                </a:solidFill>
                <a:latin typeface="Open Sans"/>
                <a:ea typeface="Open Sans"/>
                <a:cs typeface="Open Sans"/>
                <a:sym typeface="Open Sans"/>
              </a:rPr>
              <a:t>analysis</a:t>
            </a:r>
            <a:endParaRPr>
              <a:solidFill>
                <a:schemeClr val="lt1"/>
              </a:solidFill>
              <a:latin typeface="Open Sans"/>
              <a:ea typeface="Open Sans"/>
              <a:cs typeface="Open Sans"/>
              <a:sym typeface="Open Sans"/>
            </a:endParaRPr>
          </a:p>
          <a:p>
            <a:pPr indent="-292100" lvl="0" marL="457200" marR="0" rtl="0" algn="l">
              <a:lnSpc>
                <a:spcPct val="115000"/>
              </a:lnSpc>
              <a:spcBef>
                <a:spcPts val="0"/>
              </a:spcBef>
              <a:spcAft>
                <a:spcPts val="0"/>
              </a:spcAft>
              <a:buClr>
                <a:schemeClr val="lt1"/>
              </a:buClr>
              <a:buSzPts val="1000"/>
              <a:buFont typeface="Open Sans"/>
              <a:buChar char="●"/>
            </a:pPr>
            <a:r>
              <a:rPr lang="en-US" sz="1400">
                <a:solidFill>
                  <a:schemeClr val="lt1"/>
                </a:solidFill>
                <a:latin typeface="Open Sans"/>
                <a:ea typeface="Open Sans"/>
                <a:cs typeface="Open Sans"/>
                <a:sym typeface="Open Sans"/>
              </a:rPr>
              <a:t>Automated portfolio rebalancing</a:t>
            </a:r>
            <a:endParaRPr>
              <a:solidFill>
                <a:schemeClr val="lt1"/>
              </a:solidFill>
              <a:latin typeface="Open Sans"/>
              <a:ea typeface="Open Sans"/>
              <a:cs typeface="Open Sans"/>
              <a:sym typeface="Open Sans"/>
            </a:endParaRPr>
          </a:p>
          <a:p>
            <a:pPr indent="-292100" lvl="0" marL="457200" marR="0" rtl="0" algn="l">
              <a:lnSpc>
                <a:spcPct val="115000"/>
              </a:lnSpc>
              <a:spcBef>
                <a:spcPts val="0"/>
              </a:spcBef>
              <a:spcAft>
                <a:spcPts val="0"/>
              </a:spcAft>
              <a:buClr>
                <a:schemeClr val="lt1"/>
              </a:buClr>
              <a:buSzPts val="1000"/>
              <a:buFont typeface="Open Sans"/>
              <a:buChar char="●"/>
            </a:pPr>
            <a:r>
              <a:rPr lang="en-US" sz="1400">
                <a:solidFill>
                  <a:schemeClr val="lt1"/>
                </a:solidFill>
                <a:latin typeface="Open Sans"/>
                <a:ea typeface="Open Sans"/>
                <a:cs typeface="Open Sans"/>
                <a:sym typeface="Open Sans"/>
              </a:rPr>
              <a:t>Predictive risk modeling</a:t>
            </a:r>
            <a:endParaRPr sz="1400">
              <a:solidFill>
                <a:schemeClr val="lt1"/>
              </a:solidFill>
              <a:latin typeface="Open Sans"/>
              <a:ea typeface="Open Sans"/>
              <a:cs typeface="Open Sans"/>
              <a:sym typeface="Open Sans"/>
            </a:endParaRPr>
          </a:p>
        </p:txBody>
      </p:sp>
      <p:sp>
        <p:nvSpPr>
          <p:cNvPr id="96" name="Google Shape;96;g3da622ff8f5_0_0"/>
          <p:cNvSpPr txBox="1"/>
          <p:nvPr/>
        </p:nvSpPr>
        <p:spPr>
          <a:xfrm>
            <a:off x="8879109" y="1594623"/>
            <a:ext cx="2948100" cy="4078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1700">
                <a:solidFill>
                  <a:srgbClr val="B8FFEB"/>
                </a:solidFill>
                <a:latin typeface="Open Sans"/>
                <a:ea typeface="Open Sans"/>
                <a:cs typeface="Open Sans"/>
                <a:sym typeface="Open Sans"/>
              </a:rPr>
              <a:t>Risk Awareness</a:t>
            </a:r>
            <a:endParaRPr sz="1300">
              <a:solidFill>
                <a:srgbClr val="B8FFEB"/>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b="1" sz="14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rPr lang="en-US" sz="1400">
                <a:solidFill>
                  <a:schemeClr val="lt1"/>
                </a:solidFill>
                <a:latin typeface="Open Sans"/>
                <a:ea typeface="Open Sans"/>
                <a:cs typeface="Open Sans"/>
                <a:sym typeface="Open Sans"/>
              </a:rPr>
              <a:t>Comprehensive risk management is at the core of every investment decision, ensuring capital preservation while pursuing optimal returns</a:t>
            </a:r>
            <a:endParaRPr>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sz="1400">
              <a:solidFill>
                <a:schemeClr val="lt1"/>
              </a:solidFill>
              <a:latin typeface="Open Sans"/>
              <a:ea typeface="Open Sans"/>
              <a:cs typeface="Open Sans"/>
              <a:sym typeface="Open Sans"/>
            </a:endParaRPr>
          </a:p>
          <a:p>
            <a:pPr indent="-292100" lvl="0" marL="457200" marR="0" rtl="0" algn="l">
              <a:lnSpc>
                <a:spcPct val="115000"/>
              </a:lnSpc>
              <a:spcBef>
                <a:spcPts val="0"/>
              </a:spcBef>
              <a:spcAft>
                <a:spcPts val="0"/>
              </a:spcAft>
              <a:buClr>
                <a:schemeClr val="lt1"/>
              </a:buClr>
              <a:buSzPts val="1000"/>
              <a:buFont typeface="Open Sans"/>
              <a:buChar char="●"/>
            </a:pPr>
            <a:r>
              <a:rPr lang="en-US" sz="1400">
                <a:solidFill>
                  <a:schemeClr val="lt1"/>
                </a:solidFill>
                <a:latin typeface="Open Sans"/>
                <a:ea typeface="Open Sans"/>
                <a:cs typeface="Open Sans"/>
                <a:sym typeface="Open Sans"/>
              </a:rPr>
              <a:t>Dynamic drawdown controls and monitoring</a:t>
            </a:r>
            <a:endParaRPr>
              <a:solidFill>
                <a:schemeClr val="lt1"/>
              </a:solidFill>
              <a:latin typeface="Open Sans"/>
              <a:ea typeface="Open Sans"/>
              <a:cs typeface="Open Sans"/>
              <a:sym typeface="Open Sans"/>
            </a:endParaRPr>
          </a:p>
          <a:p>
            <a:pPr indent="-292100" lvl="0" marL="457200" marR="0" rtl="0" algn="l">
              <a:lnSpc>
                <a:spcPct val="115000"/>
              </a:lnSpc>
              <a:spcBef>
                <a:spcPts val="0"/>
              </a:spcBef>
              <a:spcAft>
                <a:spcPts val="0"/>
              </a:spcAft>
              <a:buClr>
                <a:schemeClr val="lt1"/>
              </a:buClr>
              <a:buSzPts val="1000"/>
              <a:buFont typeface="Open Sans"/>
              <a:buChar char="●"/>
            </a:pPr>
            <a:r>
              <a:rPr lang="en-US" sz="1400">
                <a:solidFill>
                  <a:schemeClr val="lt1"/>
                </a:solidFill>
                <a:latin typeface="Open Sans"/>
                <a:ea typeface="Open Sans"/>
                <a:cs typeface="Open Sans"/>
                <a:sym typeface="Open Sans"/>
              </a:rPr>
              <a:t>Multi-dimensional risk   </a:t>
            </a:r>
            <a:endParaRPr>
              <a:solidFill>
                <a:schemeClr val="lt1"/>
              </a:solidFill>
              <a:latin typeface="Open Sans"/>
              <a:ea typeface="Open Sans"/>
              <a:cs typeface="Open Sans"/>
              <a:sym typeface="Open Sans"/>
            </a:endParaRPr>
          </a:p>
          <a:p>
            <a:pPr indent="0" lvl="0" marL="457200" marR="0" rtl="0" algn="l">
              <a:lnSpc>
                <a:spcPct val="115000"/>
              </a:lnSpc>
              <a:spcBef>
                <a:spcPts val="0"/>
              </a:spcBef>
              <a:spcAft>
                <a:spcPts val="0"/>
              </a:spcAft>
              <a:buNone/>
            </a:pPr>
            <a:r>
              <a:rPr lang="en-US" sz="1400">
                <a:solidFill>
                  <a:schemeClr val="lt1"/>
                </a:solidFill>
                <a:latin typeface="Open Sans"/>
                <a:ea typeface="Open Sans"/>
                <a:cs typeface="Open Sans"/>
                <a:sym typeface="Open Sans"/>
              </a:rPr>
              <a:t>assessment</a:t>
            </a:r>
            <a:endParaRPr>
              <a:solidFill>
                <a:schemeClr val="lt1"/>
              </a:solidFill>
              <a:latin typeface="Open Sans"/>
              <a:ea typeface="Open Sans"/>
              <a:cs typeface="Open Sans"/>
              <a:sym typeface="Open Sans"/>
            </a:endParaRPr>
          </a:p>
          <a:p>
            <a:pPr indent="-292100" lvl="0" marL="457200" marR="0" rtl="0" algn="l">
              <a:lnSpc>
                <a:spcPct val="115000"/>
              </a:lnSpc>
              <a:spcBef>
                <a:spcPts val="0"/>
              </a:spcBef>
              <a:spcAft>
                <a:spcPts val="0"/>
              </a:spcAft>
              <a:buClr>
                <a:schemeClr val="lt1"/>
              </a:buClr>
              <a:buSzPts val="1000"/>
              <a:buFont typeface="Open Sans"/>
              <a:buChar char="●"/>
            </a:pPr>
            <a:r>
              <a:rPr lang="en-US" sz="1400">
                <a:solidFill>
                  <a:schemeClr val="lt1"/>
                </a:solidFill>
                <a:latin typeface="Open Sans"/>
                <a:ea typeface="Open Sans"/>
                <a:cs typeface="Open Sans"/>
                <a:sym typeface="Open Sans"/>
              </a:rPr>
              <a:t>Real-time portfolio stress</a:t>
            </a:r>
            <a:r>
              <a:rPr lang="en-US">
                <a:solidFill>
                  <a:schemeClr val="lt1"/>
                </a:solidFill>
                <a:latin typeface="Open Sans"/>
                <a:ea typeface="Open Sans"/>
                <a:cs typeface="Open Sans"/>
                <a:sym typeface="Open Sans"/>
              </a:rPr>
              <a:t> t</a:t>
            </a:r>
            <a:r>
              <a:rPr lang="en-US" sz="1400">
                <a:solidFill>
                  <a:schemeClr val="lt1"/>
                </a:solidFill>
                <a:latin typeface="Open Sans"/>
                <a:ea typeface="Open Sans"/>
                <a:cs typeface="Open Sans"/>
                <a:sym typeface="Open Sans"/>
              </a:rPr>
              <a:t>esting</a:t>
            </a:r>
            <a:endParaRPr>
              <a:solidFill>
                <a:schemeClr val="lt1"/>
              </a:solidFill>
              <a:latin typeface="Open Sans"/>
              <a:ea typeface="Open Sans"/>
              <a:cs typeface="Open Sans"/>
              <a:sym typeface="Open Sans"/>
            </a:endParaRPr>
          </a:p>
          <a:p>
            <a:pPr indent="-292100" lvl="0" marL="457200" marR="0" rtl="0" algn="l">
              <a:lnSpc>
                <a:spcPct val="115000"/>
              </a:lnSpc>
              <a:spcBef>
                <a:spcPts val="0"/>
              </a:spcBef>
              <a:spcAft>
                <a:spcPts val="0"/>
              </a:spcAft>
              <a:buClr>
                <a:schemeClr val="lt1"/>
              </a:buClr>
              <a:buSzPts val="1000"/>
              <a:buFont typeface="Open Sans"/>
              <a:buChar char="●"/>
            </a:pPr>
            <a:r>
              <a:rPr lang="en-US" sz="1400">
                <a:solidFill>
                  <a:schemeClr val="lt1"/>
                </a:solidFill>
                <a:latin typeface="Open Sans"/>
                <a:ea typeface="Open Sans"/>
                <a:cs typeface="Open Sans"/>
                <a:sym typeface="Open Sans"/>
              </a:rPr>
              <a:t>Volatility-based position sizing</a:t>
            </a:r>
            <a:endParaRPr sz="1050">
              <a:solidFill>
                <a:schemeClr val="lt1"/>
              </a:solidFill>
              <a:latin typeface="Open Sans"/>
              <a:ea typeface="Open Sans"/>
              <a:cs typeface="Open Sans"/>
              <a:sym typeface="Open Sans"/>
            </a:endParaRPr>
          </a:p>
        </p:txBody>
      </p:sp>
      <p:sp>
        <p:nvSpPr>
          <p:cNvPr id="97" name="Google Shape;97;g3da622ff8f5_0_0"/>
          <p:cNvSpPr/>
          <p:nvPr/>
        </p:nvSpPr>
        <p:spPr>
          <a:xfrm>
            <a:off x="55756" y="348750"/>
            <a:ext cx="3853200" cy="673800"/>
          </a:xfrm>
          <a:prstGeom prst="roundRect">
            <a:avLst>
              <a:gd fmla="val 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200">
                <a:solidFill>
                  <a:schemeClr val="lt1"/>
                </a:solidFill>
                <a:latin typeface="Open Sans"/>
                <a:ea typeface="Open Sans"/>
                <a:cs typeface="Open Sans"/>
                <a:sym typeface="Open Sans"/>
              </a:rPr>
              <a:t>Investment Approach</a:t>
            </a:r>
            <a:endParaRPr sz="2200">
              <a:solidFill>
                <a:schemeClr val="lt1"/>
              </a:solidFill>
              <a:latin typeface="Open Sans"/>
              <a:ea typeface="Open Sans"/>
              <a:cs typeface="Open Sans"/>
              <a:sym typeface="Open Sans"/>
            </a:endParaRPr>
          </a:p>
        </p:txBody>
      </p:sp>
      <p:cxnSp>
        <p:nvCxnSpPr>
          <p:cNvPr id="98" name="Google Shape;98;g3da622ff8f5_0_0"/>
          <p:cNvCxnSpPr/>
          <p:nvPr/>
        </p:nvCxnSpPr>
        <p:spPr>
          <a:xfrm>
            <a:off x="8603178" y="1664325"/>
            <a:ext cx="0" cy="4335000"/>
          </a:xfrm>
          <a:prstGeom prst="straightConnector1">
            <a:avLst/>
          </a:prstGeom>
          <a:noFill/>
          <a:ln cap="flat" cmpd="sng" w="9525">
            <a:solidFill>
              <a:srgbClr val="B7B7B7"/>
            </a:solidFill>
            <a:prstDash val="solid"/>
            <a:round/>
            <a:headEnd len="med" w="med" type="none"/>
            <a:tailEnd len="med" w="med" type="none"/>
          </a:ln>
        </p:spPr>
      </p:cxnSp>
      <p:pic>
        <p:nvPicPr>
          <p:cNvPr id="99" name="Google Shape;99;g3da622ff8f5_0_0"/>
          <p:cNvPicPr preferRelativeResize="0"/>
          <p:nvPr/>
        </p:nvPicPr>
        <p:blipFill>
          <a:blip r:embed="rId3">
            <a:alphaModFix/>
          </a:blip>
          <a:stretch>
            <a:fillRect/>
          </a:stretch>
        </p:blipFill>
        <p:spPr>
          <a:xfrm>
            <a:off x="11004389" y="129417"/>
            <a:ext cx="1075787" cy="786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p:nvPr/>
        </p:nvSpPr>
        <p:spPr>
          <a:xfrm>
            <a:off x="1061065" y="424102"/>
            <a:ext cx="3567900" cy="735300"/>
          </a:xfrm>
          <a:prstGeom prst="roundRect">
            <a:avLst>
              <a:gd fmla="val 16667" name="adj"/>
            </a:avLst>
          </a:prstGeom>
          <a:noFill/>
          <a:ln>
            <a:noFill/>
          </a:ln>
        </p:spPr>
        <p:txBody>
          <a:bodyPr anchorCtr="0" anchor="ctr" bIns="49875" lIns="99775" spcFirstLastPara="1" rIns="99775" wrap="square" tIns="49875">
            <a:noAutofit/>
          </a:bodyPr>
          <a:lstStyle/>
          <a:p>
            <a:pPr indent="0" lvl="0" marL="0" marR="0" rtl="0" algn="l">
              <a:lnSpc>
                <a:spcPct val="100000"/>
              </a:lnSpc>
              <a:spcBef>
                <a:spcPts val="0"/>
              </a:spcBef>
              <a:spcAft>
                <a:spcPts val="0"/>
              </a:spcAft>
              <a:buNone/>
            </a:pPr>
            <a:r>
              <a:rPr b="1" lang="en-US" sz="2200">
                <a:solidFill>
                  <a:srgbClr val="22477B"/>
                </a:solidFill>
                <a:latin typeface="Open Sans"/>
                <a:ea typeface="Open Sans"/>
                <a:cs typeface="Open Sans"/>
                <a:sym typeface="Open Sans"/>
              </a:rPr>
              <a:t>Founder Experience &amp; </a:t>
            </a:r>
            <a:r>
              <a:rPr b="1" lang="en-US" sz="2200">
                <a:solidFill>
                  <a:srgbClr val="22477B"/>
                </a:solidFill>
                <a:latin typeface="Open Sans"/>
                <a:ea typeface="Open Sans"/>
                <a:cs typeface="Open Sans"/>
                <a:sym typeface="Open Sans"/>
              </a:rPr>
              <a:t>Qualifications</a:t>
            </a:r>
            <a:endParaRPr b="1" sz="2200">
              <a:solidFill>
                <a:srgbClr val="22477B"/>
              </a:solidFill>
              <a:latin typeface="Open Sans"/>
              <a:ea typeface="Open Sans"/>
              <a:cs typeface="Open Sans"/>
              <a:sym typeface="Open Sans"/>
            </a:endParaRPr>
          </a:p>
        </p:txBody>
      </p:sp>
      <p:sp>
        <p:nvSpPr>
          <p:cNvPr id="105" name="Google Shape;105;p2"/>
          <p:cNvSpPr/>
          <p:nvPr/>
        </p:nvSpPr>
        <p:spPr>
          <a:xfrm>
            <a:off x="1200452" y="1381375"/>
            <a:ext cx="3567900" cy="658200"/>
          </a:xfrm>
          <a:prstGeom prst="roundRect">
            <a:avLst>
              <a:gd fmla="val 16667" name="adj"/>
            </a:avLst>
          </a:prstGeom>
          <a:solidFill>
            <a:srgbClr val="33619F"/>
          </a:solidFill>
          <a:ln>
            <a:noFill/>
          </a:ln>
        </p:spPr>
        <p:txBody>
          <a:bodyPr anchorCtr="0" anchor="ctr" bIns="49875" lIns="99775" spcFirstLastPara="1" rIns="99775" wrap="square" tIns="49875">
            <a:noAutofit/>
          </a:bodyPr>
          <a:lstStyle/>
          <a:p>
            <a:pPr indent="0" lvl="0" marL="0" marR="0" rtl="0" algn="ctr">
              <a:spcBef>
                <a:spcPts val="0"/>
              </a:spcBef>
              <a:spcAft>
                <a:spcPts val="0"/>
              </a:spcAft>
              <a:buNone/>
            </a:pPr>
            <a:r>
              <a:rPr lang="en-US" sz="1746">
                <a:solidFill>
                  <a:schemeClr val="lt1"/>
                </a:solidFill>
                <a:latin typeface="Open Sans SemiBold"/>
                <a:ea typeface="Open Sans SemiBold"/>
                <a:cs typeface="Open Sans SemiBold"/>
                <a:sym typeface="Open Sans SemiBold"/>
              </a:rPr>
              <a:t>Investments</a:t>
            </a:r>
            <a:endParaRPr sz="1746">
              <a:solidFill>
                <a:schemeClr val="lt1"/>
              </a:solidFill>
              <a:latin typeface="Open Sans SemiBold"/>
              <a:ea typeface="Open Sans SemiBold"/>
              <a:cs typeface="Open Sans SemiBold"/>
              <a:sym typeface="Open Sans SemiBold"/>
            </a:endParaRPr>
          </a:p>
        </p:txBody>
      </p:sp>
      <p:sp>
        <p:nvSpPr>
          <p:cNvPr id="106" name="Google Shape;106;p2"/>
          <p:cNvSpPr/>
          <p:nvPr/>
        </p:nvSpPr>
        <p:spPr>
          <a:xfrm>
            <a:off x="1200451" y="2262379"/>
            <a:ext cx="3567900" cy="658200"/>
          </a:xfrm>
          <a:prstGeom prst="roundRect">
            <a:avLst>
              <a:gd fmla="val 16667" name="adj"/>
            </a:avLst>
          </a:prstGeom>
          <a:solidFill>
            <a:srgbClr val="33619F"/>
          </a:solidFill>
          <a:ln>
            <a:noFill/>
          </a:ln>
        </p:spPr>
        <p:txBody>
          <a:bodyPr anchorCtr="0" anchor="ctr" bIns="49875" lIns="99775" spcFirstLastPara="1" rIns="99775" wrap="square" tIns="49875">
            <a:noAutofit/>
          </a:bodyPr>
          <a:lstStyle/>
          <a:p>
            <a:pPr indent="0" lvl="0" marL="0" marR="0" rtl="0" algn="ctr">
              <a:spcBef>
                <a:spcPts val="0"/>
              </a:spcBef>
              <a:spcAft>
                <a:spcPts val="0"/>
              </a:spcAft>
              <a:buNone/>
            </a:pPr>
            <a:r>
              <a:rPr lang="en-US" sz="1746">
                <a:solidFill>
                  <a:schemeClr val="lt1"/>
                </a:solidFill>
                <a:latin typeface="Open Sans SemiBold"/>
                <a:ea typeface="Open Sans SemiBold"/>
                <a:cs typeface="Open Sans SemiBold"/>
                <a:sym typeface="Open Sans SemiBold"/>
              </a:rPr>
              <a:t>Risk</a:t>
            </a:r>
            <a:endParaRPr sz="1746">
              <a:solidFill>
                <a:schemeClr val="lt1"/>
              </a:solidFill>
              <a:latin typeface="Open Sans SemiBold"/>
              <a:ea typeface="Open Sans SemiBold"/>
              <a:cs typeface="Open Sans SemiBold"/>
              <a:sym typeface="Open Sans SemiBold"/>
            </a:endParaRPr>
          </a:p>
        </p:txBody>
      </p:sp>
      <p:sp>
        <p:nvSpPr>
          <p:cNvPr id="107" name="Google Shape;107;p2"/>
          <p:cNvSpPr/>
          <p:nvPr/>
        </p:nvSpPr>
        <p:spPr>
          <a:xfrm>
            <a:off x="1200453" y="4024386"/>
            <a:ext cx="3587400" cy="658200"/>
          </a:xfrm>
          <a:prstGeom prst="roundRect">
            <a:avLst>
              <a:gd fmla="val 16667" name="adj"/>
            </a:avLst>
          </a:prstGeom>
          <a:solidFill>
            <a:srgbClr val="33619F"/>
          </a:solidFill>
          <a:ln>
            <a:noFill/>
          </a:ln>
        </p:spPr>
        <p:txBody>
          <a:bodyPr anchorCtr="0" anchor="ctr" bIns="49875" lIns="99775" spcFirstLastPara="1" rIns="99775" wrap="square" tIns="49875">
            <a:noAutofit/>
          </a:bodyPr>
          <a:lstStyle/>
          <a:p>
            <a:pPr indent="0" lvl="0" marL="0" marR="0" rtl="0" algn="ctr">
              <a:spcBef>
                <a:spcPts val="0"/>
              </a:spcBef>
              <a:spcAft>
                <a:spcPts val="0"/>
              </a:spcAft>
              <a:buNone/>
            </a:pPr>
            <a:r>
              <a:rPr lang="en-US" sz="1746">
                <a:solidFill>
                  <a:schemeClr val="lt1"/>
                </a:solidFill>
                <a:latin typeface="Open Sans SemiBold"/>
                <a:ea typeface="Open Sans SemiBold"/>
                <a:cs typeface="Open Sans SemiBold"/>
                <a:sym typeface="Open Sans SemiBold"/>
              </a:rPr>
              <a:t>Quantitative Development</a:t>
            </a:r>
            <a:endParaRPr sz="1746">
              <a:solidFill>
                <a:schemeClr val="lt1"/>
              </a:solidFill>
              <a:latin typeface="Open Sans SemiBold"/>
              <a:ea typeface="Open Sans SemiBold"/>
              <a:cs typeface="Open Sans SemiBold"/>
              <a:sym typeface="Open Sans SemiBold"/>
            </a:endParaRPr>
          </a:p>
        </p:txBody>
      </p:sp>
      <p:sp>
        <p:nvSpPr>
          <p:cNvPr id="108" name="Google Shape;108;p2"/>
          <p:cNvSpPr/>
          <p:nvPr/>
        </p:nvSpPr>
        <p:spPr>
          <a:xfrm>
            <a:off x="1200449" y="4905389"/>
            <a:ext cx="3567900" cy="658200"/>
          </a:xfrm>
          <a:prstGeom prst="roundRect">
            <a:avLst>
              <a:gd fmla="val 16667" name="adj"/>
            </a:avLst>
          </a:prstGeom>
          <a:solidFill>
            <a:srgbClr val="33619F"/>
          </a:solidFill>
          <a:ln>
            <a:noFill/>
          </a:ln>
        </p:spPr>
        <p:txBody>
          <a:bodyPr anchorCtr="0" anchor="ctr" bIns="49875" lIns="99775" spcFirstLastPara="1" rIns="99775" wrap="square" tIns="49875">
            <a:noAutofit/>
          </a:bodyPr>
          <a:lstStyle/>
          <a:p>
            <a:pPr indent="0" lvl="0" marL="0" marR="0" rtl="0" algn="ctr">
              <a:spcBef>
                <a:spcPts val="0"/>
              </a:spcBef>
              <a:spcAft>
                <a:spcPts val="0"/>
              </a:spcAft>
              <a:buNone/>
            </a:pPr>
            <a:r>
              <a:rPr lang="en-US" sz="1746">
                <a:solidFill>
                  <a:schemeClr val="lt1"/>
                </a:solidFill>
                <a:latin typeface="Open Sans SemiBold"/>
                <a:ea typeface="Open Sans SemiBold"/>
                <a:cs typeface="Open Sans SemiBold"/>
                <a:sym typeface="Open Sans SemiBold"/>
              </a:rPr>
              <a:t>Project Mgt</a:t>
            </a:r>
            <a:endParaRPr sz="1746">
              <a:solidFill>
                <a:schemeClr val="lt1"/>
              </a:solidFill>
              <a:latin typeface="Open Sans SemiBold"/>
              <a:ea typeface="Open Sans SemiBold"/>
              <a:cs typeface="Open Sans SemiBold"/>
              <a:sym typeface="Open Sans SemiBold"/>
            </a:endParaRPr>
          </a:p>
        </p:txBody>
      </p:sp>
      <p:sp>
        <p:nvSpPr>
          <p:cNvPr id="109" name="Google Shape;109;p2"/>
          <p:cNvSpPr/>
          <p:nvPr/>
        </p:nvSpPr>
        <p:spPr>
          <a:xfrm>
            <a:off x="1200453" y="3143382"/>
            <a:ext cx="3567900" cy="658200"/>
          </a:xfrm>
          <a:prstGeom prst="roundRect">
            <a:avLst>
              <a:gd fmla="val 16667" name="adj"/>
            </a:avLst>
          </a:prstGeom>
          <a:solidFill>
            <a:srgbClr val="33619F"/>
          </a:solidFill>
          <a:ln>
            <a:noFill/>
          </a:ln>
        </p:spPr>
        <p:txBody>
          <a:bodyPr anchorCtr="0" anchor="ctr" bIns="49875" lIns="99775" spcFirstLastPara="1" rIns="99775" wrap="square" tIns="49875">
            <a:noAutofit/>
          </a:bodyPr>
          <a:lstStyle/>
          <a:p>
            <a:pPr indent="0" lvl="0" marL="0" marR="0" rtl="0" algn="ctr">
              <a:spcBef>
                <a:spcPts val="0"/>
              </a:spcBef>
              <a:spcAft>
                <a:spcPts val="0"/>
              </a:spcAft>
              <a:buNone/>
            </a:pPr>
            <a:r>
              <a:rPr lang="en-US" sz="1746">
                <a:solidFill>
                  <a:schemeClr val="lt1"/>
                </a:solidFill>
                <a:latin typeface="Open Sans SemiBold"/>
                <a:ea typeface="Open Sans SemiBold"/>
                <a:cs typeface="Open Sans SemiBold"/>
                <a:sym typeface="Open Sans SemiBold"/>
              </a:rPr>
              <a:t>Product Dev &amp; Mgt</a:t>
            </a:r>
            <a:endParaRPr sz="1746">
              <a:solidFill>
                <a:schemeClr val="lt1"/>
              </a:solidFill>
              <a:latin typeface="Open Sans SemiBold"/>
              <a:ea typeface="Open Sans SemiBold"/>
              <a:cs typeface="Open Sans SemiBold"/>
              <a:sym typeface="Open Sans SemiBold"/>
            </a:endParaRPr>
          </a:p>
        </p:txBody>
      </p:sp>
      <p:sp>
        <p:nvSpPr>
          <p:cNvPr id="110" name="Google Shape;110;p2"/>
          <p:cNvSpPr/>
          <p:nvPr/>
        </p:nvSpPr>
        <p:spPr>
          <a:xfrm>
            <a:off x="1200449" y="5786393"/>
            <a:ext cx="3606900" cy="658200"/>
          </a:xfrm>
          <a:prstGeom prst="roundRect">
            <a:avLst>
              <a:gd fmla="val 16667" name="adj"/>
            </a:avLst>
          </a:prstGeom>
          <a:solidFill>
            <a:srgbClr val="33619F"/>
          </a:solidFill>
          <a:ln>
            <a:noFill/>
          </a:ln>
        </p:spPr>
        <p:txBody>
          <a:bodyPr anchorCtr="0" anchor="ctr" bIns="49875" lIns="99775" spcFirstLastPara="1" rIns="99775" wrap="square" tIns="49875">
            <a:noAutofit/>
          </a:bodyPr>
          <a:lstStyle/>
          <a:p>
            <a:pPr indent="0" lvl="0" marL="0" marR="0" rtl="0" algn="ctr">
              <a:spcBef>
                <a:spcPts val="0"/>
              </a:spcBef>
              <a:spcAft>
                <a:spcPts val="0"/>
              </a:spcAft>
              <a:buNone/>
            </a:pPr>
            <a:r>
              <a:rPr lang="en-US" sz="1746">
                <a:solidFill>
                  <a:schemeClr val="lt1"/>
                </a:solidFill>
                <a:latin typeface="Open Sans SemiBold"/>
                <a:ea typeface="Open Sans SemiBold"/>
                <a:cs typeface="Open Sans SemiBold"/>
                <a:sym typeface="Open Sans SemiBold"/>
              </a:rPr>
              <a:t>Technology</a:t>
            </a:r>
            <a:endParaRPr sz="1746">
              <a:solidFill>
                <a:schemeClr val="lt1"/>
              </a:solidFill>
              <a:latin typeface="Open Sans SemiBold"/>
              <a:ea typeface="Open Sans SemiBold"/>
              <a:cs typeface="Open Sans SemiBold"/>
              <a:sym typeface="Open Sans SemiBold"/>
            </a:endParaRPr>
          </a:p>
        </p:txBody>
      </p:sp>
      <p:sp>
        <p:nvSpPr>
          <p:cNvPr id="111" name="Google Shape;111;p2"/>
          <p:cNvSpPr/>
          <p:nvPr/>
        </p:nvSpPr>
        <p:spPr>
          <a:xfrm>
            <a:off x="5473805" y="396222"/>
            <a:ext cx="4830000" cy="735300"/>
          </a:xfrm>
          <a:prstGeom prst="roundRect">
            <a:avLst>
              <a:gd fmla="val 16667" name="adj"/>
            </a:avLst>
          </a:prstGeom>
          <a:noFill/>
          <a:ln>
            <a:noFill/>
          </a:ln>
        </p:spPr>
        <p:txBody>
          <a:bodyPr anchorCtr="0" anchor="ctr" bIns="49875" lIns="99775" spcFirstLastPara="1" rIns="99775" wrap="square" tIns="49875">
            <a:noAutofit/>
          </a:bodyPr>
          <a:lstStyle/>
          <a:p>
            <a:pPr indent="0" lvl="0" marL="0" marR="0" rtl="0" algn="l">
              <a:lnSpc>
                <a:spcPct val="100000"/>
              </a:lnSpc>
              <a:spcBef>
                <a:spcPts val="0"/>
              </a:spcBef>
              <a:spcAft>
                <a:spcPts val="0"/>
              </a:spcAft>
              <a:buNone/>
            </a:pPr>
            <a:r>
              <a:rPr b="1" lang="en-US" sz="2200">
                <a:solidFill>
                  <a:srgbClr val="22477B"/>
                </a:solidFill>
                <a:latin typeface="Open Sans"/>
                <a:ea typeface="Open Sans"/>
                <a:cs typeface="Open Sans"/>
                <a:sym typeface="Open Sans"/>
              </a:rPr>
              <a:t>AI Augmentation</a:t>
            </a:r>
            <a:endParaRPr b="1" sz="2200">
              <a:solidFill>
                <a:srgbClr val="22477B"/>
              </a:solidFill>
              <a:latin typeface="Open Sans"/>
              <a:ea typeface="Open Sans"/>
              <a:cs typeface="Open Sans"/>
              <a:sym typeface="Open Sans"/>
            </a:endParaRPr>
          </a:p>
        </p:txBody>
      </p:sp>
      <p:sp>
        <p:nvSpPr>
          <p:cNvPr id="112" name="Google Shape;112;p2"/>
          <p:cNvSpPr/>
          <p:nvPr/>
        </p:nvSpPr>
        <p:spPr>
          <a:xfrm>
            <a:off x="7540131" y="4700918"/>
            <a:ext cx="1732500" cy="492600"/>
          </a:xfrm>
          <a:prstGeom prst="roundRect">
            <a:avLst>
              <a:gd fmla="val 16667" name="adj"/>
            </a:avLst>
          </a:prstGeom>
          <a:solidFill>
            <a:srgbClr val="B8FFEB"/>
          </a:solidFill>
          <a:ln>
            <a:noFill/>
          </a:ln>
        </p:spPr>
        <p:txBody>
          <a:bodyPr anchorCtr="0" anchor="ctr" bIns="49875" lIns="99775" spcFirstLastPara="1" rIns="99775" wrap="square" tIns="49875">
            <a:noAutofit/>
          </a:bodyPr>
          <a:lstStyle/>
          <a:p>
            <a:pPr indent="0" lvl="0" marL="0" marR="0" rtl="0" algn="ctr">
              <a:lnSpc>
                <a:spcPct val="100000"/>
              </a:lnSpc>
              <a:spcBef>
                <a:spcPts val="0"/>
              </a:spcBef>
              <a:spcAft>
                <a:spcPts val="0"/>
              </a:spcAft>
              <a:buNone/>
            </a:pPr>
            <a:r>
              <a:rPr lang="en-US">
                <a:solidFill>
                  <a:schemeClr val="dk1"/>
                </a:solidFill>
                <a:latin typeface="Open Sans SemiBold"/>
                <a:ea typeface="Open Sans SemiBold"/>
                <a:cs typeface="Open Sans SemiBold"/>
                <a:sym typeface="Open Sans SemiBold"/>
              </a:rPr>
              <a:t>Back end</a:t>
            </a:r>
            <a:endParaRPr>
              <a:solidFill>
                <a:schemeClr val="dk1"/>
              </a:solidFill>
              <a:latin typeface="Open Sans SemiBold"/>
              <a:ea typeface="Open Sans SemiBold"/>
              <a:cs typeface="Open Sans SemiBold"/>
              <a:sym typeface="Open Sans SemiBold"/>
            </a:endParaRPr>
          </a:p>
        </p:txBody>
      </p:sp>
      <p:sp>
        <p:nvSpPr>
          <p:cNvPr id="113" name="Google Shape;113;p2"/>
          <p:cNvSpPr/>
          <p:nvPr/>
        </p:nvSpPr>
        <p:spPr>
          <a:xfrm>
            <a:off x="9499167" y="4700918"/>
            <a:ext cx="1732500" cy="492600"/>
          </a:xfrm>
          <a:prstGeom prst="roundRect">
            <a:avLst>
              <a:gd fmla="val 16667" name="adj"/>
            </a:avLst>
          </a:prstGeom>
          <a:solidFill>
            <a:srgbClr val="B8FFEB"/>
          </a:solidFill>
          <a:ln>
            <a:noFill/>
          </a:ln>
        </p:spPr>
        <p:txBody>
          <a:bodyPr anchorCtr="0" anchor="ctr" bIns="49875" lIns="99775" spcFirstLastPara="1" rIns="99775" wrap="square" tIns="49875">
            <a:noAutofit/>
          </a:bodyPr>
          <a:lstStyle/>
          <a:p>
            <a:pPr indent="0" lvl="0" marL="0" marR="0" rtl="0" algn="ctr">
              <a:lnSpc>
                <a:spcPct val="100000"/>
              </a:lnSpc>
              <a:spcBef>
                <a:spcPts val="0"/>
              </a:spcBef>
              <a:spcAft>
                <a:spcPts val="0"/>
              </a:spcAft>
              <a:buNone/>
            </a:pPr>
            <a:r>
              <a:rPr lang="en-US">
                <a:solidFill>
                  <a:schemeClr val="dk1"/>
                </a:solidFill>
                <a:latin typeface="Open Sans SemiBold"/>
                <a:ea typeface="Open Sans SemiBold"/>
                <a:cs typeface="Open Sans SemiBold"/>
                <a:sym typeface="Open Sans SemiBold"/>
              </a:rPr>
              <a:t>Full Stack</a:t>
            </a:r>
            <a:endParaRPr>
              <a:solidFill>
                <a:schemeClr val="dk1"/>
              </a:solidFill>
              <a:latin typeface="Open Sans SemiBold"/>
              <a:ea typeface="Open Sans SemiBold"/>
              <a:cs typeface="Open Sans SemiBold"/>
              <a:sym typeface="Open Sans SemiBold"/>
            </a:endParaRPr>
          </a:p>
        </p:txBody>
      </p:sp>
      <p:sp>
        <p:nvSpPr>
          <p:cNvPr id="114" name="Google Shape;114;p2"/>
          <p:cNvSpPr/>
          <p:nvPr/>
        </p:nvSpPr>
        <p:spPr>
          <a:xfrm>
            <a:off x="5581095" y="5326459"/>
            <a:ext cx="1732500" cy="492600"/>
          </a:xfrm>
          <a:prstGeom prst="roundRect">
            <a:avLst>
              <a:gd fmla="val 16667" name="adj"/>
            </a:avLst>
          </a:prstGeom>
          <a:solidFill>
            <a:srgbClr val="B8FFEB"/>
          </a:solidFill>
          <a:ln>
            <a:noFill/>
          </a:ln>
        </p:spPr>
        <p:txBody>
          <a:bodyPr anchorCtr="0" anchor="ctr" bIns="49875" lIns="99775" spcFirstLastPara="1" rIns="99775" wrap="square" tIns="49875">
            <a:noAutofit/>
          </a:bodyPr>
          <a:lstStyle/>
          <a:p>
            <a:pPr indent="0" lvl="0" marL="0" marR="0" rtl="0" algn="ctr">
              <a:lnSpc>
                <a:spcPct val="100000"/>
              </a:lnSpc>
              <a:spcBef>
                <a:spcPts val="0"/>
              </a:spcBef>
              <a:spcAft>
                <a:spcPts val="0"/>
              </a:spcAft>
              <a:buNone/>
            </a:pPr>
            <a:r>
              <a:rPr lang="en-US">
                <a:solidFill>
                  <a:schemeClr val="dk1"/>
                </a:solidFill>
                <a:latin typeface="Open Sans SemiBold"/>
                <a:ea typeface="Open Sans SemiBold"/>
                <a:cs typeface="Open Sans SemiBold"/>
                <a:sym typeface="Open Sans SemiBold"/>
              </a:rPr>
              <a:t>DevOps</a:t>
            </a:r>
            <a:endParaRPr>
              <a:solidFill>
                <a:schemeClr val="dk1"/>
              </a:solidFill>
              <a:latin typeface="Open Sans SemiBold"/>
              <a:ea typeface="Open Sans SemiBold"/>
              <a:cs typeface="Open Sans SemiBold"/>
              <a:sym typeface="Open Sans SemiBold"/>
            </a:endParaRPr>
          </a:p>
        </p:txBody>
      </p:sp>
      <p:sp>
        <p:nvSpPr>
          <p:cNvPr id="115" name="Google Shape;115;p2"/>
          <p:cNvSpPr/>
          <p:nvPr/>
        </p:nvSpPr>
        <p:spPr>
          <a:xfrm>
            <a:off x="9499167" y="5326459"/>
            <a:ext cx="1732500" cy="492600"/>
          </a:xfrm>
          <a:prstGeom prst="roundRect">
            <a:avLst>
              <a:gd fmla="val 16667" name="adj"/>
            </a:avLst>
          </a:prstGeom>
          <a:solidFill>
            <a:srgbClr val="B8FFEB"/>
          </a:solidFill>
          <a:ln>
            <a:noFill/>
          </a:ln>
        </p:spPr>
        <p:txBody>
          <a:bodyPr anchorCtr="0" anchor="ctr" bIns="49875" lIns="99775" spcFirstLastPara="1" rIns="99775" wrap="square" tIns="49875">
            <a:noAutofit/>
          </a:bodyPr>
          <a:lstStyle/>
          <a:p>
            <a:pPr indent="0" lvl="0" marL="0" marR="0" rtl="0" algn="ctr">
              <a:lnSpc>
                <a:spcPct val="100000"/>
              </a:lnSpc>
              <a:spcBef>
                <a:spcPts val="0"/>
              </a:spcBef>
              <a:spcAft>
                <a:spcPts val="0"/>
              </a:spcAft>
              <a:buNone/>
            </a:pPr>
            <a:r>
              <a:rPr lang="en-US">
                <a:solidFill>
                  <a:schemeClr val="dk1"/>
                </a:solidFill>
                <a:latin typeface="Open Sans SemiBold"/>
                <a:ea typeface="Open Sans SemiBold"/>
                <a:cs typeface="Open Sans SemiBold"/>
                <a:sym typeface="Open Sans SemiBold"/>
              </a:rPr>
              <a:t>Architecture</a:t>
            </a:r>
            <a:endParaRPr>
              <a:solidFill>
                <a:schemeClr val="dk1"/>
              </a:solidFill>
              <a:latin typeface="Open Sans SemiBold"/>
              <a:ea typeface="Open Sans SemiBold"/>
              <a:cs typeface="Open Sans SemiBold"/>
              <a:sym typeface="Open Sans SemiBold"/>
            </a:endParaRPr>
          </a:p>
        </p:txBody>
      </p:sp>
      <p:sp>
        <p:nvSpPr>
          <p:cNvPr id="116" name="Google Shape;116;p2"/>
          <p:cNvSpPr/>
          <p:nvPr/>
        </p:nvSpPr>
        <p:spPr>
          <a:xfrm>
            <a:off x="7540131" y="5326458"/>
            <a:ext cx="1732500" cy="492600"/>
          </a:xfrm>
          <a:prstGeom prst="roundRect">
            <a:avLst>
              <a:gd fmla="val 16667" name="adj"/>
            </a:avLst>
          </a:prstGeom>
          <a:solidFill>
            <a:srgbClr val="B8FFEB"/>
          </a:solidFill>
          <a:ln>
            <a:noFill/>
          </a:ln>
        </p:spPr>
        <p:txBody>
          <a:bodyPr anchorCtr="0" anchor="ctr" bIns="49875" lIns="99775" spcFirstLastPara="1" rIns="99775" wrap="square" tIns="49875">
            <a:noAutofit/>
          </a:bodyPr>
          <a:lstStyle/>
          <a:p>
            <a:pPr indent="0" lvl="0" marL="0" marR="0" rtl="0" algn="ctr">
              <a:lnSpc>
                <a:spcPct val="100000"/>
              </a:lnSpc>
              <a:spcBef>
                <a:spcPts val="0"/>
              </a:spcBef>
              <a:spcAft>
                <a:spcPts val="0"/>
              </a:spcAft>
              <a:buNone/>
            </a:pPr>
            <a:r>
              <a:rPr lang="en-US">
                <a:solidFill>
                  <a:schemeClr val="dk1"/>
                </a:solidFill>
                <a:latin typeface="Open Sans SemiBold"/>
                <a:ea typeface="Open Sans SemiBold"/>
                <a:cs typeface="Open Sans SemiBold"/>
                <a:sym typeface="Open Sans SemiBold"/>
              </a:rPr>
              <a:t>DBA</a:t>
            </a:r>
            <a:endParaRPr>
              <a:solidFill>
                <a:schemeClr val="dk1"/>
              </a:solidFill>
              <a:latin typeface="Open Sans SemiBold"/>
              <a:ea typeface="Open Sans SemiBold"/>
              <a:cs typeface="Open Sans SemiBold"/>
              <a:sym typeface="Open Sans SemiBold"/>
            </a:endParaRPr>
          </a:p>
        </p:txBody>
      </p:sp>
      <p:sp>
        <p:nvSpPr>
          <p:cNvPr id="117" name="Google Shape;117;p2"/>
          <p:cNvSpPr/>
          <p:nvPr/>
        </p:nvSpPr>
        <p:spPr>
          <a:xfrm>
            <a:off x="5581095" y="4700917"/>
            <a:ext cx="1732500" cy="492600"/>
          </a:xfrm>
          <a:prstGeom prst="roundRect">
            <a:avLst>
              <a:gd fmla="val 16667" name="adj"/>
            </a:avLst>
          </a:prstGeom>
          <a:solidFill>
            <a:srgbClr val="B8FFEB"/>
          </a:solidFill>
          <a:ln>
            <a:noFill/>
          </a:ln>
        </p:spPr>
        <p:txBody>
          <a:bodyPr anchorCtr="0" anchor="ctr" bIns="49875" lIns="99775" spcFirstLastPara="1" rIns="99775" wrap="square" tIns="49875">
            <a:noAutofit/>
          </a:bodyPr>
          <a:lstStyle/>
          <a:p>
            <a:pPr indent="0" lvl="0" marL="0" marR="0" rtl="0" algn="ctr">
              <a:lnSpc>
                <a:spcPct val="100000"/>
              </a:lnSpc>
              <a:spcBef>
                <a:spcPts val="0"/>
              </a:spcBef>
              <a:spcAft>
                <a:spcPts val="0"/>
              </a:spcAft>
              <a:buNone/>
            </a:pPr>
            <a:r>
              <a:rPr lang="en-US">
                <a:solidFill>
                  <a:schemeClr val="dk1"/>
                </a:solidFill>
                <a:latin typeface="Open Sans SemiBold"/>
                <a:ea typeface="Open Sans SemiBold"/>
                <a:cs typeface="Open Sans SemiBold"/>
                <a:sym typeface="Open Sans SemiBold"/>
              </a:rPr>
              <a:t>Front end</a:t>
            </a:r>
            <a:endParaRPr>
              <a:solidFill>
                <a:schemeClr val="dk1"/>
              </a:solidFill>
              <a:latin typeface="Open Sans SemiBold"/>
              <a:ea typeface="Open Sans SemiBold"/>
              <a:cs typeface="Open Sans SemiBold"/>
              <a:sym typeface="Open Sans SemiBold"/>
            </a:endParaRPr>
          </a:p>
        </p:txBody>
      </p:sp>
      <p:sp>
        <p:nvSpPr>
          <p:cNvPr id="118" name="Google Shape;118;p2"/>
          <p:cNvSpPr/>
          <p:nvPr/>
        </p:nvSpPr>
        <p:spPr>
          <a:xfrm>
            <a:off x="5581095" y="5952001"/>
            <a:ext cx="1732500" cy="492600"/>
          </a:xfrm>
          <a:prstGeom prst="roundRect">
            <a:avLst>
              <a:gd fmla="val 16667" name="adj"/>
            </a:avLst>
          </a:prstGeom>
          <a:solidFill>
            <a:srgbClr val="B8FFEB"/>
          </a:solidFill>
          <a:ln>
            <a:noFill/>
          </a:ln>
        </p:spPr>
        <p:txBody>
          <a:bodyPr anchorCtr="0" anchor="ctr" bIns="49875" lIns="99775" spcFirstLastPara="1" rIns="99775" wrap="square" tIns="49875">
            <a:noAutofit/>
          </a:bodyPr>
          <a:lstStyle/>
          <a:p>
            <a:pPr indent="0" lvl="0" marL="0" marR="0" rtl="0" algn="ctr">
              <a:lnSpc>
                <a:spcPct val="100000"/>
              </a:lnSpc>
              <a:spcBef>
                <a:spcPts val="0"/>
              </a:spcBef>
              <a:spcAft>
                <a:spcPts val="0"/>
              </a:spcAft>
              <a:buNone/>
            </a:pPr>
            <a:r>
              <a:rPr lang="en-US">
                <a:solidFill>
                  <a:schemeClr val="dk1"/>
                </a:solidFill>
                <a:latin typeface="Open Sans SemiBold"/>
                <a:ea typeface="Open Sans SemiBold"/>
                <a:cs typeface="Open Sans SemiBold"/>
                <a:sym typeface="Open Sans SemiBold"/>
              </a:rPr>
              <a:t>QA</a:t>
            </a:r>
            <a:endParaRPr>
              <a:solidFill>
                <a:schemeClr val="dk1"/>
              </a:solidFill>
              <a:latin typeface="Open Sans SemiBold"/>
              <a:ea typeface="Open Sans SemiBold"/>
              <a:cs typeface="Open Sans SemiBold"/>
              <a:sym typeface="Open Sans SemiBold"/>
            </a:endParaRPr>
          </a:p>
        </p:txBody>
      </p:sp>
      <p:sp>
        <p:nvSpPr>
          <p:cNvPr id="119" name="Google Shape;119;p2"/>
          <p:cNvSpPr/>
          <p:nvPr/>
        </p:nvSpPr>
        <p:spPr>
          <a:xfrm>
            <a:off x="7540131" y="5951997"/>
            <a:ext cx="1732500" cy="492600"/>
          </a:xfrm>
          <a:prstGeom prst="roundRect">
            <a:avLst>
              <a:gd fmla="val 16667" name="adj"/>
            </a:avLst>
          </a:prstGeom>
          <a:solidFill>
            <a:srgbClr val="B8FFEB"/>
          </a:solidFill>
          <a:ln>
            <a:noFill/>
          </a:ln>
        </p:spPr>
        <p:txBody>
          <a:bodyPr anchorCtr="0" anchor="ctr" bIns="49875" lIns="99775" spcFirstLastPara="1" rIns="99775" wrap="square" tIns="49875">
            <a:noAutofit/>
          </a:bodyPr>
          <a:lstStyle/>
          <a:p>
            <a:pPr indent="0" lvl="0" marL="0" marR="0" rtl="0" algn="ctr">
              <a:lnSpc>
                <a:spcPct val="100000"/>
              </a:lnSpc>
              <a:spcBef>
                <a:spcPts val="0"/>
              </a:spcBef>
              <a:spcAft>
                <a:spcPts val="0"/>
              </a:spcAft>
              <a:buNone/>
            </a:pPr>
            <a:r>
              <a:rPr lang="en-US">
                <a:solidFill>
                  <a:schemeClr val="dk1"/>
                </a:solidFill>
                <a:latin typeface="Open Sans SemiBold"/>
                <a:ea typeface="Open Sans SemiBold"/>
                <a:cs typeface="Open Sans SemiBold"/>
                <a:sym typeface="Open Sans SemiBold"/>
              </a:rPr>
              <a:t>UI/UX</a:t>
            </a:r>
            <a:endParaRPr>
              <a:solidFill>
                <a:schemeClr val="dk1"/>
              </a:solidFill>
              <a:latin typeface="Open Sans SemiBold"/>
              <a:ea typeface="Open Sans SemiBold"/>
              <a:cs typeface="Open Sans SemiBold"/>
              <a:sym typeface="Open Sans SemiBold"/>
            </a:endParaRPr>
          </a:p>
        </p:txBody>
      </p:sp>
      <p:sp>
        <p:nvSpPr>
          <p:cNvPr id="120" name="Google Shape;120;p2"/>
          <p:cNvSpPr/>
          <p:nvPr/>
        </p:nvSpPr>
        <p:spPr>
          <a:xfrm>
            <a:off x="9499167" y="5951997"/>
            <a:ext cx="1732500" cy="492600"/>
          </a:xfrm>
          <a:prstGeom prst="roundRect">
            <a:avLst>
              <a:gd fmla="val 16667" name="adj"/>
            </a:avLst>
          </a:prstGeom>
          <a:solidFill>
            <a:srgbClr val="B8FFEB"/>
          </a:solidFill>
          <a:ln>
            <a:noFill/>
          </a:ln>
        </p:spPr>
        <p:txBody>
          <a:bodyPr anchorCtr="0" anchor="ctr" bIns="49875" lIns="99775" spcFirstLastPara="1" rIns="99775" wrap="square" tIns="49875">
            <a:noAutofit/>
          </a:bodyPr>
          <a:lstStyle/>
          <a:p>
            <a:pPr indent="0" lvl="0" marL="0" marR="0" rtl="0" algn="ctr">
              <a:lnSpc>
                <a:spcPct val="100000"/>
              </a:lnSpc>
              <a:spcBef>
                <a:spcPts val="0"/>
              </a:spcBef>
              <a:spcAft>
                <a:spcPts val="0"/>
              </a:spcAft>
              <a:buNone/>
            </a:pPr>
            <a:r>
              <a:rPr lang="en-US">
                <a:solidFill>
                  <a:schemeClr val="dk1"/>
                </a:solidFill>
                <a:latin typeface="Open Sans SemiBold"/>
                <a:ea typeface="Open Sans SemiBold"/>
                <a:cs typeface="Open Sans SemiBold"/>
                <a:sym typeface="Open Sans SemiBold"/>
              </a:rPr>
              <a:t>Security</a:t>
            </a:r>
            <a:endParaRPr>
              <a:solidFill>
                <a:schemeClr val="dk1"/>
              </a:solidFill>
              <a:latin typeface="Open Sans SemiBold"/>
              <a:ea typeface="Open Sans SemiBold"/>
              <a:cs typeface="Open Sans SemiBold"/>
              <a:sym typeface="Open Sans SemiBold"/>
            </a:endParaRPr>
          </a:p>
        </p:txBody>
      </p:sp>
      <p:sp>
        <p:nvSpPr>
          <p:cNvPr id="121" name="Google Shape;121;p2"/>
          <p:cNvSpPr/>
          <p:nvPr/>
        </p:nvSpPr>
        <p:spPr>
          <a:xfrm>
            <a:off x="4844621" y="4742647"/>
            <a:ext cx="513000" cy="1564200"/>
          </a:xfrm>
          <a:prstGeom prst="leftBrace">
            <a:avLst>
              <a:gd fmla="val 8333" name="adj1"/>
              <a:gd fmla="val 44657" name="adj2"/>
            </a:avLst>
          </a:prstGeom>
          <a:noFill/>
          <a:ln cap="flat" cmpd="sng" w="19050">
            <a:solidFill>
              <a:srgbClr val="999999"/>
            </a:solidFill>
            <a:prstDash val="solid"/>
            <a:miter lim="800000"/>
            <a:headEnd len="sm" w="sm" type="none"/>
            <a:tailEnd len="sm" w="sm" type="none"/>
          </a:ln>
        </p:spPr>
        <p:txBody>
          <a:bodyPr anchorCtr="0" anchor="ctr" bIns="49875" lIns="99775" spcFirstLastPara="1" rIns="99775" wrap="square" tIns="49875">
            <a:noAutofit/>
          </a:bodyPr>
          <a:lstStyle/>
          <a:p>
            <a:pPr indent="0" lvl="0" marL="0" marR="0" rtl="0" algn="ctr">
              <a:spcBef>
                <a:spcPts val="0"/>
              </a:spcBef>
              <a:spcAft>
                <a:spcPts val="0"/>
              </a:spcAft>
              <a:buNone/>
            </a:pPr>
            <a:r>
              <a:t/>
            </a:r>
            <a:endParaRPr sz="1964">
              <a:solidFill>
                <a:schemeClr val="dk1"/>
              </a:solidFill>
              <a:latin typeface="Arial"/>
              <a:ea typeface="Arial"/>
              <a:cs typeface="Arial"/>
              <a:sym typeface="Arial"/>
            </a:endParaRPr>
          </a:p>
        </p:txBody>
      </p:sp>
      <p:sp>
        <p:nvSpPr>
          <p:cNvPr id="122" name="Google Shape;122;p2"/>
          <p:cNvSpPr/>
          <p:nvPr/>
        </p:nvSpPr>
        <p:spPr>
          <a:xfrm>
            <a:off x="5549948" y="1423202"/>
            <a:ext cx="1722000" cy="492600"/>
          </a:xfrm>
          <a:prstGeom prst="roundRect">
            <a:avLst>
              <a:gd fmla="val 16667" name="adj"/>
            </a:avLst>
          </a:prstGeom>
          <a:solidFill>
            <a:srgbClr val="B8FFEB"/>
          </a:solidFill>
          <a:ln>
            <a:noFill/>
          </a:ln>
        </p:spPr>
        <p:txBody>
          <a:bodyPr anchorCtr="0" anchor="ctr" bIns="49875" lIns="99775" spcFirstLastPara="1" rIns="99775" wrap="square" tIns="49875">
            <a:noAutofit/>
          </a:bodyPr>
          <a:lstStyle/>
          <a:p>
            <a:pPr indent="0" lvl="0" marL="0" marR="0" rtl="0" algn="ctr">
              <a:spcBef>
                <a:spcPts val="0"/>
              </a:spcBef>
              <a:spcAft>
                <a:spcPts val="0"/>
              </a:spcAft>
              <a:buNone/>
            </a:pPr>
            <a:r>
              <a:rPr lang="en-US">
                <a:solidFill>
                  <a:schemeClr val="dk1"/>
                </a:solidFill>
                <a:latin typeface="Open Sans SemiBold"/>
                <a:ea typeface="Open Sans SemiBold"/>
                <a:cs typeface="Open Sans SemiBold"/>
                <a:sym typeface="Open Sans SemiBold"/>
              </a:rPr>
              <a:t>Dev</a:t>
            </a:r>
            <a:endParaRPr>
              <a:solidFill>
                <a:schemeClr val="dk1"/>
              </a:solidFill>
              <a:latin typeface="Open Sans SemiBold"/>
              <a:ea typeface="Open Sans SemiBold"/>
              <a:cs typeface="Open Sans SemiBold"/>
              <a:sym typeface="Open Sans SemiBold"/>
            </a:endParaRPr>
          </a:p>
        </p:txBody>
      </p:sp>
      <p:sp>
        <p:nvSpPr>
          <p:cNvPr id="123" name="Google Shape;123;p2"/>
          <p:cNvSpPr/>
          <p:nvPr/>
        </p:nvSpPr>
        <p:spPr>
          <a:xfrm>
            <a:off x="5549948" y="2076233"/>
            <a:ext cx="1722000" cy="492600"/>
          </a:xfrm>
          <a:prstGeom prst="roundRect">
            <a:avLst>
              <a:gd fmla="val 16667" name="adj"/>
            </a:avLst>
          </a:prstGeom>
          <a:solidFill>
            <a:srgbClr val="B8FFEB"/>
          </a:solidFill>
          <a:ln>
            <a:noFill/>
          </a:ln>
        </p:spPr>
        <p:txBody>
          <a:bodyPr anchorCtr="0" anchor="ctr" bIns="49875" lIns="99775" spcFirstLastPara="1" rIns="99775" wrap="square" tIns="49875">
            <a:noAutofit/>
          </a:bodyPr>
          <a:lstStyle/>
          <a:p>
            <a:pPr indent="0" lvl="0" marL="0" marR="0" rtl="0" algn="ctr">
              <a:spcBef>
                <a:spcPts val="0"/>
              </a:spcBef>
              <a:spcAft>
                <a:spcPts val="0"/>
              </a:spcAft>
              <a:buNone/>
            </a:pPr>
            <a:r>
              <a:rPr lang="en-US">
                <a:solidFill>
                  <a:schemeClr val="dk1"/>
                </a:solidFill>
                <a:latin typeface="Open Sans SemiBold"/>
                <a:ea typeface="Open Sans SemiBold"/>
                <a:cs typeface="Open Sans SemiBold"/>
                <a:sym typeface="Open Sans SemiBold"/>
              </a:rPr>
              <a:t>Guidelines</a:t>
            </a:r>
            <a:endParaRPr>
              <a:solidFill>
                <a:schemeClr val="dk1"/>
              </a:solidFill>
              <a:latin typeface="Open Sans SemiBold"/>
              <a:ea typeface="Open Sans SemiBold"/>
              <a:cs typeface="Open Sans SemiBold"/>
              <a:sym typeface="Open Sans SemiBold"/>
            </a:endParaRPr>
          </a:p>
        </p:txBody>
      </p:sp>
      <p:sp>
        <p:nvSpPr>
          <p:cNvPr id="124" name="Google Shape;124;p2"/>
          <p:cNvSpPr/>
          <p:nvPr/>
        </p:nvSpPr>
        <p:spPr>
          <a:xfrm>
            <a:off x="7531088" y="2076233"/>
            <a:ext cx="1722000" cy="492600"/>
          </a:xfrm>
          <a:prstGeom prst="roundRect">
            <a:avLst>
              <a:gd fmla="val 16667" name="adj"/>
            </a:avLst>
          </a:prstGeom>
          <a:solidFill>
            <a:srgbClr val="B8FFEB"/>
          </a:solidFill>
          <a:ln>
            <a:noFill/>
          </a:ln>
        </p:spPr>
        <p:txBody>
          <a:bodyPr anchorCtr="0" anchor="ctr" bIns="49875" lIns="99775" spcFirstLastPara="1" rIns="99775" wrap="square" tIns="49875">
            <a:noAutofit/>
          </a:bodyPr>
          <a:lstStyle/>
          <a:p>
            <a:pPr indent="0" lvl="0" marL="0" marR="0" rtl="0" algn="ctr">
              <a:spcBef>
                <a:spcPts val="0"/>
              </a:spcBef>
              <a:spcAft>
                <a:spcPts val="0"/>
              </a:spcAft>
              <a:buNone/>
            </a:pPr>
            <a:r>
              <a:rPr lang="en-US">
                <a:solidFill>
                  <a:schemeClr val="dk1"/>
                </a:solidFill>
                <a:latin typeface="Open Sans SemiBold"/>
                <a:ea typeface="Open Sans SemiBold"/>
                <a:cs typeface="Open Sans SemiBold"/>
                <a:sym typeface="Open Sans SemiBold"/>
              </a:rPr>
              <a:t>Stress test</a:t>
            </a:r>
            <a:endParaRPr>
              <a:solidFill>
                <a:schemeClr val="dk1"/>
              </a:solidFill>
              <a:latin typeface="Open Sans SemiBold"/>
              <a:ea typeface="Open Sans SemiBold"/>
              <a:cs typeface="Open Sans SemiBold"/>
              <a:sym typeface="Open Sans SemiBold"/>
            </a:endParaRPr>
          </a:p>
        </p:txBody>
      </p:sp>
      <p:sp>
        <p:nvSpPr>
          <p:cNvPr id="125" name="Google Shape;125;p2"/>
          <p:cNvSpPr/>
          <p:nvPr/>
        </p:nvSpPr>
        <p:spPr>
          <a:xfrm>
            <a:off x="9512228" y="2076233"/>
            <a:ext cx="1722000" cy="492600"/>
          </a:xfrm>
          <a:prstGeom prst="roundRect">
            <a:avLst>
              <a:gd fmla="val 16667" name="adj"/>
            </a:avLst>
          </a:prstGeom>
          <a:solidFill>
            <a:srgbClr val="B8FFEB"/>
          </a:solidFill>
          <a:ln>
            <a:noFill/>
          </a:ln>
        </p:spPr>
        <p:txBody>
          <a:bodyPr anchorCtr="0" anchor="ctr" bIns="49875" lIns="99775" spcFirstLastPara="1" rIns="99775" wrap="square" tIns="49875">
            <a:noAutofit/>
          </a:bodyPr>
          <a:lstStyle/>
          <a:p>
            <a:pPr indent="0" lvl="0" marL="0" marR="0" rtl="0" algn="ctr">
              <a:spcBef>
                <a:spcPts val="0"/>
              </a:spcBef>
              <a:spcAft>
                <a:spcPts val="0"/>
              </a:spcAft>
              <a:buNone/>
            </a:pPr>
            <a:r>
              <a:rPr lang="en-US">
                <a:solidFill>
                  <a:schemeClr val="dk1"/>
                </a:solidFill>
                <a:latin typeface="Open Sans SemiBold"/>
                <a:ea typeface="Open Sans SemiBold"/>
                <a:cs typeface="Open Sans SemiBold"/>
                <a:sym typeface="Open Sans SemiBold"/>
              </a:rPr>
              <a:t>Monitoring</a:t>
            </a:r>
            <a:endParaRPr>
              <a:solidFill>
                <a:schemeClr val="dk1"/>
              </a:solidFill>
              <a:latin typeface="Open Sans SemiBold"/>
              <a:ea typeface="Open Sans SemiBold"/>
              <a:cs typeface="Open Sans SemiBold"/>
              <a:sym typeface="Open Sans SemiBold"/>
            </a:endParaRPr>
          </a:p>
        </p:txBody>
      </p:sp>
      <p:sp>
        <p:nvSpPr>
          <p:cNvPr id="126" name="Google Shape;126;p2"/>
          <p:cNvSpPr/>
          <p:nvPr/>
        </p:nvSpPr>
        <p:spPr>
          <a:xfrm>
            <a:off x="7514223" y="1423201"/>
            <a:ext cx="1722000" cy="492600"/>
          </a:xfrm>
          <a:prstGeom prst="roundRect">
            <a:avLst>
              <a:gd fmla="val 16667" name="adj"/>
            </a:avLst>
          </a:prstGeom>
          <a:solidFill>
            <a:srgbClr val="B8FFEB"/>
          </a:solidFill>
          <a:ln>
            <a:noFill/>
          </a:ln>
        </p:spPr>
        <p:txBody>
          <a:bodyPr anchorCtr="0" anchor="ctr" bIns="49875" lIns="99775" spcFirstLastPara="1" rIns="99775" wrap="square" tIns="49875">
            <a:noAutofit/>
          </a:bodyPr>
          <a:lstStyle/>
          <a:p>
            <a:pPr indent="0" lvl="0" marL="0" marR="0" rtl="0" algn="ctr">
              <a:spcBef>
                <a:spcPts val="0"/>
              </a:spcBef>
              <a:spcAft>
                <a:spcPts val="0"/>
              </a:spcAft>
              <a:buNone/>
            </a:pPr>
            <a:r>
              <a:rPr lang="en-US">
                <a:solidFill>
                  <a:schemeClr val="dk1"/>
                </a:solidFill>
                <a:latin typeface="Open Sans SemiBold"/>
                <a:ea typeface="Open Sans SemiBold"/>
                <a:cs typeface="Open Sans SemiBold"/>
                <a:sym typeface="Open Sans SemiBold"/>
              </a:rPr>
              <a:t>Backtest</a:t>
            </a:r>
            <a:endParaRPr>
              <a:solidFill>
                <a:schemeClr val="dk1"/>
              </a:solidFill>
              <a:latin typeface="Open Sans SemiBold"/>
              <a:ea typeface="Open Sans SemiBold"/>
              <a:cs typeface="Open Sans SemiBold"/>
              <a:sym typeface="Open Sans SemiBold"/>
            </a:endParaRPr>
          </a:p>
        </p:txBody>
      </p:sp>
      <p:sp>
        <p:nvSpPr>
          <p:cNvPr id="127" name="Google Shape;127;p2"/>
          <p:cNvSpPr/>
          <p:nvPr/>
        </p:nvSpPr>
        <p:spPr>
          <a:xfrm>
            <a:off x="5581095" y="3877122"/>
            <a:ext cx="1732500" cy="492600"/>
          </a:xfrm>
          <a:prstGeom prst="roundRect">
            <a:avLst>
              <a:gd fmla="val 16667" name="adj"/>
            </a:avLst>
          </a:prstGeom>
          <a:solidFill>
            <a:srgbClr val="B8FFEB"/>
          </a:solidFill>
          <a:ln>
            <a:noFill/>
          </a:ln>
        </p:spPr>
        <p:txBody>
          <a:bodyPr anchorCtr="0" anchor="ctr" bIns="49875" lIns="99775" spcFirstLastPara="1" rIns="99775" wrap="square" tIns="49875">
            <a:noAutofit/>
          </a:bodyPr>
          <a:lstStyle/>
          <a:p>
            <a:pPr indent="0" lvl="0" marL="0" marR="0" rtl="0" algn="ctr">
              <a:lnSpc>
                <a:spcPct val="100000"/>
              </a:lnSpc>
              <a:spcBef>
                <a:spcPts val="0"/>
              </a:spcBef>
              <a:spcAft>
                <a:spcPts val="0"/>
              </a:spcAft>
              <a:buNone/>
            </a:pPr>
            <a:r>
              <a:rPr lang="en-US">
                <a:solidFill>
                  <a:schemeClr val="dk1"/>
                </a:solidFill>
                <a:latin typeface="Open Sans SemiBold"/>
                <a:ea typeface="Open Sans SemiBold"/>
                <a:cs typeface="Open Sans SemiBold"/>
                <a:sym typeface="Open Sans SemiBold"/>
              </a:rPr>
              <a:t>Optimization</a:t>
            </a:r>
            <a:endParaRPr>
              <a:solidFill>
                <a:schemeClr val="dk1"/>
              </a:solidFill>
              <a:latin typeface="Open Sans SemiBold"/>
              <a:ea typeface="Open Sans SemiBold"/>
              <a:cs typeface="Open Sans SemiBold"/>
              <a:sym typeface="Open Sans SemiBold"/>
            </a:endParaRPr>
          </a:p>
        </p:txBody>
      </p:sp>
      <p:sp>
        <p:nvSpPr>
          <p:cNvPr id="128" name="Google Shape;128;p2"/>
          <p:cNvSpPr/>
          <p:nvPr/>
        </p:nvSpPr>
        <p:spPr>
          <a:xfrm>
            <a:off x="7540131" y="3877122"/>
            <a:ext cx="1732500" cy="492600"/>
          </a:xfrm>
          <a:prstGeom prst="roundRect">
            <a:avLst>
              <a:gd fmla="val 16667" name="adj"/>
            </a:avLst>
          </a:prstGeom>
          <a:solidFill>
            <a:srgbClr val="B8FFEB"/>
          </a:solidFill>
          <a:ln>
            <a:noFill/>
          </a:ln>
        </p:spPr>
        <p:txBody>
          <a:bodyPr anchorCtr="0" anchor="ctr" bIns="49875" lIns="99775" spcFirstLastPara="1" rIns="99775" wrap="square" tIns="49875">
            <a:noAutofit/>
          </a:bodyPr>
          <a:lstStyle/>
          <a:p>
            <a:pPr indent="0" lvl="0" marL="0" marR="0" rtl="0" algn="ctr">
              <a:lnSpc>
                <a:spcPct val="100000"/>
              </a:lnSpc>
              <a:spcBef>
                <a:spcPts val="0"/>
              </a:spcBef>
              <a:spcAft>
                <a:spcPts val="0"/>
              </a:spcAft>
              <a:buNone/>
            </a:pPr>
            <a:r>
              <a:rPr lang="en-US">
                <a:solidFill>
                  <a:schemeClr val="dk1"/>
                </a:solidFill>
                <a:latin typeface="Open Sans SemiBold"/>
                <a:ea typeface="Open Sans SemiBold"/>
                <a:cs typeface="Open Sans SemiBold"/>
                <a:sym typeface="Open Sans SemiBold"/>
              </a:rPr>
              <a:t>Deployment</a:t>
            </a:r>
            <a:endParaRPr>
              <a:solidFill>
                <a:schemeClr val="dk1"/>
              </a:solidFill>
              <a:latin typeface="Open Sans SemiBold"/>
              <a:ea typeface="Open Sans SemiBold"/>
              <a:cs typeface="Open Sans SemiBold"/>
              <a:sym typeface="Open Sans SemiBold"/>
            </a:endParaRPr>
          </a:p>
        </p:txBody>
      </p:sp>
      <p:sp>
        <p:nvSpPr>
          <p:cNvPr id="129" name="Google Shape;129;p2"/>
          <p:cNvSpPr/>
          <p:nvPr/>
        </p:nvSpPr>
        <p:spPr>
          <a:xfrm>
            <a:off x="9533097" y="3872006"/>
            <a:ext cx="1732500" cy="492600"/>
          </a:xfrm>
          <a:prstGeom prst="roundRect">
            <a:avLst>
              <a:gd fmla="val 16667" name="adj"/>
            </a:avLst>
          </a:prstGeom>
          <a:solidFill>
            <a:srgbClr val="B8FFEB"/>
          </a:solidFill>
          <a:ln>
            <a:noFill/>
          </a:ln>
        </p:spPr>
        <p:txBody>
          <a:bodyPr anchorCtr="0" anchor="ctr" bIns="49875" lIns="99775" spcFirstLastPara="1" rIns="99775" wrap="square" tIns="49875">
            <a:noAutofit/>
          </a:bodyPr>
          <a:lstStyle/>
          <a:p>
            <a:pPr indent="0" lvl="0" marL="0" marR="0" rtl="0" algn="ctr">
              <a:lnSpc>
                <a:spcPct val="100000"/>
              </a:lnSpc>
              <a:spcBef>
                <a:spcPts val="0"/>
              </a:spcBef>
              <a:spcAft>
                <a:spcPts val="0"/>
              </a:spcAft>
              <a:buNone/>
            </a:pPr>
            <a:r>
              <a:rPr lang="en-US">
                <a:solidFill>
                  <a:schemeClr val="dk1"/>
                </a:solidFill>
                <a:latin typeface="Open Sans SemiBold"/>
                <a:ea typeface="Open Sans SemiBold"/>
                <a:cs typeface="Open Sans SemiBold"/>
                <a:sym typeface="Open Sans SemiBold"/>
              </a:rPr>
              <a:t>Execution</a:t>
            </a:r>
            <a:endParaRPr>
              <a:solidFill>
                <a:schemeClr val="lt1"/>
              </a:solidFill>
              <a:latin typeface="Open Sans SemiBold"/>
              <a:ea typeface="Open Sans SemiBold"/>
              <a:cs typeface="Open Sans SemiBold"/>
              <a:sym typeface="Open Sans SemiBold"/>
            </a:endParaRPr>
          </a:p>
        </p:txBody>
      </p:sp>
      <p:sp>
        <p:nvSpPr>
          <p:cNvPr id="130" name="Google Shape;130;p2"/>
          <p:cNvSpPr/>
          <p:nvPr/>
        </p:nvSpPr>
        <p:spPr>
          <a:xfrm>
            <a:off x="9478498" y="1423200"/>
            <a:ext cx="1722000" cy="492600"/>
          </a:xfrm>
          <a:prstGeom prst="roundRect">
            <a:avLst>
              <a:gd fmla="val 16667" name="adj"/>
            </a:avLst>
          </a:prstGeom>
          <a:solidFill>
            <a:srgbClr val="B8FFEB"/>
          </a:solidFill>
          <a:ln>
            <a:noFill/>
          </a:ln>
        </p:spPr>
        <p:txBody>
          <a:bodyPr anchorCtr="0" anchor="ctr" bIns="49875" lIns="99775" spcFirstLastPara="1" rIns="99775" wrap="square" tIns="49875">
            <a:noAutofit/>
          </a:bodyPr>
          <a:lstStyle/>
          <a:p>
            <a:pPr indent="0" lvl="0" marL="0" marR="0" rtl="0" algn="ctr">
              <a:spcBef>
                <a:spcPts val="0"/>
              </a:spcBef>
              <a:spcAft>
                <a:spcPts val="0"/>
              </a:spcAft>
              <a:buNone/>
            </a:pPr>
            <a:r>
              <a:rPr lang="en-US">
                <a:solidFill>
                  <a:schemeClr val="dk1"/>
                </a:solidFill>
                <a:latin typeface="Open Sans SemiBold"/>
                <a:ea typeface="Open Sans SemiBold"/>
                <a:cs typeface="Open Sans SemiBold"/>
                <a:sym typeface="Open Sans SemiBold"/>
              </a:rPr>
              <a:t>Analytics</a:t>
            </a:r>
            <a:endParaRPr>
              <a:solidFill>
                <a:schemeClr val="dk1"/>
              </a:solidFill>
              <a:latin typeface="Open Sans SemiBold"/>
              <a:ea typeface="Open Sans SemiBold"/>
              <a:cs typeface="Open Sans SemiBold"/>
              <a:sym typeface="Open Sans SemiBold"/>
            </a:endParaRPr>
          </a:p>
        </p:txBody>
      </p:sp>
      <p:sp>
        <p:nvSpPr>
          <p:cNvPr id="131" name="Google Shape;131;p2"/>
          <p:cNvSpPr txBox="1"/>
          <p:nvPr/>
        </p:nvSpPr>
        <p:spPr>
          <a:xfrm>
            <a:off x="4859487" y="394399"/>
            <a:ext cx="517800" cy="789300"/>
          </a:xfrm>
          <a:prstGeom prst="rect">
            <a:avLst/>
          </a:prstGeom>
          <a:noFill/>
          <a:ln>
            <a:noFill/>
          </a:ln>
        </p:spPr>
        <p:txBody>
          <a:bodyPr anchorCtr="0" anchor="t" bIns="99775" lIns="99775" spcFirstLastPara="1" rIns="99775" wrap="square" tIns="99775">
            <a:spAutoFit/>
          </a:bodyPr>
          <a:lstStyle/>
          <a:p>
            <a:pPr indent="0" lvl="0" marL="0" rtl="0" algn="l">
              <a:spcBef>
                <a:spcPts val="0"/>
              </a:spcBef>
              <a:spcAft>
                <a:spcPts val="0"/>
              </a:spcAft>
              <a:buNone/>
            </a:pPr>
            <a:r>
              <a:rPr lang="en-US" sz="3819">
                <a:solidFill>
                  <a:srgbClr val="22477B"/>
                </a:solidFill>
              </a:rPr>
              <a:t>+</a:t>
            </a:r>
            <a:endParaRPr sz="3819">
              <a:solidFill>
                <a:srgbClr val="22477B"/>
              </a:solidFill>
            </a:endParaRPr>
          </a:p>
        </p:txBody>
      </p:sp>
      <p:pic>
        <p:nvPicPr>
          <p:cNvPr id="132" name="Google Shape;132;p2"/>
          <p:cNvPicPr preferRelativeResize="0"/>
          <p:nvPr/>
        </p:nvPicPr>
        <p:blipFill>
          <a:blip r:embed="rId3">
            <a:alphaModFix/>
          </a:blip>
          <a:stretch>
            <a:fillRect/>
          </a:stretch>
        </p:blipFill>
        <p:spPr>
          <a:xfrm>
            <a:off x="11004389" y="129417"/>
            <a:ext cx="1075787" cy="786250"/>
          </a:xfrm>
          <a:prstGeom prst="rect">
            <a:avLst/>
          </a:prstGeom>
          <a:noFill/>
          <a:ln>
            <a:noFill/>
          </a:ln>
        </p:spPr>
      </p:pic>
      <p:grpSp>
        <p:nvGrpSpPr>
          <p:cNvPr id="133" name="Google Shape;133;p2"/>
          <p:cNvGrpSpPr/>
          <p:nvPr/>
        </p:nvGrpSpPr>
        <p:grpSpPr>
          <a:xfrm>
            <a:off x="583310" y="1915800"/>
            <a:ext cx="492197" cy="461700"/>
            <a:chOff x="6860800" y="702525"/>
            <a:chExt cx="492197" cy="461700"/>
          </a:xfrm>
        </p:grpSpPr>
        <p:sp>
          <p:nvSpPr>
            <p:cNvPr id="134" name="Google Shape;134;p2"/>
            <p:cNvSpPr/>
            <p:nvPr/>
          </p:nvSpPr>
          <p:spPr>
            <a:xfrm>
              <a:off x="6860800" y="702525"/>
              <a:ext cx="461700" cy="461700"/>
            </a:xfrm>
            <a:prstGeom prst="ellipse">
              <a:avLst/>
            </a:prstGeom>
            <a:solidFill>
              <a:srgbClr val="78C92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
            <p:cNvSpPr txBox="1"/>
            <p:nvPr/>
          </p:nvSpPr>
          <p:spPr>
            <a:xfrm>
              <a:off x="6891297" y="716475"/>
              <a:ext cx="461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lt1"/>
                  </a:solidFill>
                </a:rPr>
                <a:t>70</a:t>
              </a:r>
              <a:endParaRPr b="1" sz="1600">
                <a:solidFill>
                  <a:schemeClr val="lt1"/>
                </a:solidFill>
              </a:endParaRPr>
            </a:p>
          </p:txBody>
        </p:sp>
      </p:grpSp>
      <p:grpSp>
        <p:nvGrpSpPr>
          <p:cNvPr id="136" name="Google Shape;136;p2"/>
          <p:cNvGrpSpPr/>
          <p:nvPr/>
        </p:nvGrpSpPr>
        <p:grpSpPr>
          <a:xfrm>
            <a:off x="583310" y="4122613"/>
            <a:ext cx="492197" cy="461700"/>
            <a:chOff x="6860800" y="702525"/>
            <a:chExt cx="492197" cy="461700"/>
          </a:xfrm>
        </p:grpSpPr>
        <p:sp>
          <p:nvSpPr>
            <p:cNvPr id="137" name="Google Shape;137;p2"/>
            <p:cNvSpPr/>
            <p:nvPr/>
          </p:nvSpPr>
          <p:spPr>
            <a:xfrm>
              <a:off x="6860800" y="702525"/>
              <a:ext cx="461700" cy="461700"/>
            </a:xfrm>
            <a:prstGeom prst="ellipse">
              <a:avLst/>
            </a:prstGeom>
            <a:solidFill>
              <a:srgbClr val="78C92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2"/>
            <p:cNvSpPr txBox="1"/>
            <p:nvPr/>
          </p:nvSpPr>
          <p:spPr>
            <a:xfrm>
              <a:off x="6891297" y="716475"/>
              <a:ext cx="461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lt1"/>
                  </a:solidFill>
                </a:rPr>
                <a:t>6</a:t>
              </a:r>
              <a:r>
                <a:rPr b="1" lang="en-US" sz="1600">
                  <a:solidFill>
                    <a:schemeClr val="lt1"/>
                  </a:solidFill>
                </a:rPr>
                <a:t>0</a:t>
              </a:r>
              <a:endParaRPr b="1" sz="1600">
                <a:solidFill>
                  <a:schemeClr val="lt1"/>
                </a:solidFill>
              </a:endParaRPr>
            </a:p>
          </p:txBody>
        </p:sp>
      </p:grpSp>
      <p:grpSp>
        <p:nvGrpSpPr>
          <p:cNvPr id="139" name="Google Shape;139;p2"/>
          <p:cNvGrpSpPr/>
          <p:nvPr/>
        </p:nvGrpSpPr>
        <p:grpSpPr>
          <a:xfrm>
            <a:off x="597249" y="5003638"/>
            <a:ext cx="464319" cy="461700"/>
            <a:chOff x="6860800" y="702525"/>
            <a:chExt cx="464319" cy="461700"/>
          </a:xfrm>
        </p:grpSpPr>
        <p:sp>
          <p:nvSpPr>
            <p:cNvPr id="140" name="Google Shape;140;p2"/>
            <p:cNvSpPr/>
            <p:nvPr/>
          </p:nvSpPr>
          <p:spPr>
            <a:xfrm>
              <a:off x="6860800" y="702525"/>
              <a:ext cx="461700" cy="461700"/>
            </a:xfrm>
            <a:prstGeom prst="ellipse">
              <a:avLst/>
            </a:prstGeom>
            <a:solidFill>
              <a:srgbClr val="78C92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2"/>
            <p:cNvSpPr txBox="1"/>
            <p:nvPr/>
          </p:nvSpPr>
          <p:spPr>
            <a:xfrm>
              <a:off x="6863419" y="744353"/>
              <a:ext cx="461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300">
                  <a:solidFill>
                    <a:schemeClr val="lt1"/>
                  </a:solidFill>
                </a:rPr>
                <a:t>10</a:t>
              </a:r>
              <a:r>
                <a:rPr b="1" lang="en-US" sz="1300">
                  <a:solidFill>
                    <a:schemeClr val="lt1"/>
                  </a:solidFill>
                </a:rPr>
                <a:t>0</a:t>
              </a:r>
              <a:endParaRPr b="1" sz="1300">
                <a:solidFill>
                  <a:schemeClr val="lt1"/>
                </a:solidFill>
              </a:endParaRPr>
            </a:p>
          </p:txBody>
        </p:sp>
      </p:grpSp>
      <p:grpSp>
        <p:nvGrpSpPr>
          <p:cNvPr id="142" name="Google Shape;142;p2"/>
          <p:cNvGrpSpPr/>
          <p:nvPr/>
        </p:nvGrpSpPr>
        <p:grpSpPr>
          <a:xfrm>
            <a:off x="583310" y="5897742"/>
            <a:ext cx="492197" cy="461700"/>
            <a:chOff x="6860800" y="702525"/>
            <a:chExt cx="492197" cy="461700"/>
          </a:xfrm>
        </p:grpSpPr>
        <p:sp>
          <p:nvSpPr>
            <p:cNvPr id="143" name="Google Shape;143;p2"/>
            <p:cNvSpPr/>
            <p:nvPr/>
          </p:nvSpPr>
          <p:spPr>
            <a:xfrm>
              <a:off x="6860800" y="702525"/>
              <a:ext cx="461700" cy="461700"/>
            </a:xfrm>
            <a:prstGeom prst="ellipse">
              <a:avLst/>
            </a:prstGeom>
            <a:solidFill>
              <a:srgbClr val="78C92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2"/>
            <p:cNvSpPr txBox="1"/>
            <p:nvPr/>
          </p:nvSpPr>
          <p:spPr>
            <a:xfrm>
              <a:off x="6891297" y="716475"/>
              <a:ext cx="461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lt1"/>
                  </a:solidFill>
                </a:rPr>
                <a:t>1</a:t>
              </a:r>
              <a:r>
                <a:rPr b="1" lang="en-US" sz="1600">
                  <a:solidFill>
                    <a:schemeClr val="lt1"/>
                  </a:solidFill>
                </a:rPr>
                <a:t>0</a:t>
              </a:r>
              <a:endParaRPr b="1" sz="1600">
                <a:solidFill>
                  <a:schemeClr val="lt1"/>
                </a:solidFill>
              </a:endParaRPr>
            </a:p>
          </p:txBody>
        </p:sp>
      </p:grpSp>
      <p:grpSp>
        <p:nvGrpSpPr>
          <p:cNvPr id="145" name="Google Shape;145;p2"/>
          <p:cNvGrpSpPr/>
          <p:nvPr/>
        </p:nvGrpSpPr>
        <p:grpSpPr>
          <a:xfrm>
            <a:off x="4985508" y="1754888"/>
            <a:ext cx="492197" cy="461700"/>
            <a:chOff x="6860800" y="702525"/>
            <a:chExt cx="492197" cy="461700"/>
          </a:xfrm>
        </p:grpSpPr>
        <p:sp>
          <p:nvSpPr>
            <p:cNvPr id="146" name="Google Shape;146;p2"/>
            <p:cNvSpPr/>
            <p:nvPr/>
          </p:nvSpPr>
          <p:spPr>
            <a:xfrm>
              <a:off x="6860800" y="702525"/>
              <a:ext cx="461700" cy="461700"/>
            </a:xfrm>
            <a:prstGeom prst="ellipse">
              <a:avLst/>
            </a:prstGeom>
            <a:solidFill>
              <a:srgbClr val="78C92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
            <p:cNvSpPr txBox="1"/>
            <p:nvPr/>
          </p:nvSpPr>
          <p:spPr>
            <a:xfrm>
              <a:off x="6891297" y="716475"/>
              <a:ext cx="461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lt1"/>
                  </a:solidFill>
                </a:rPr>
                <a:t>30</a:t>
              </a:r>
              <a:endParaRPr b="1" sz="1600">
                <a:solidFill>
                  <a:schemeClr val="lt1"/>
                </a:solidFill>
              </a:endParaRPr>
            </a:p>
          </p:txBody>
        </p:sp>
      </p:grpSp>
      <p:grpSp>
        <p:nvGrpSpPr>
          <p:cNvPr id="148" name="Google Shape;148;p2"/>
          <p:cNvGrpSpPr/>
          <p:nvPr/>
        </p:nvGrpSpPr>
        <p:grpSpPr>
          <a:xfrm>
            <a:off x="4985508" y="3905944"/>
            <a:ext cx="492197" cy="461700"/>
            <a:chOff x="6860800" y="702525"/>
            <a:chExt cx="492197" cy="461700"/>
          </a:xfrm>
        </p:grpSpPr>
        <p:sp>
          <p:nvSpPr>
            <p:cNvPr id="149" name="Google Shape;149;p2"/>
            <p:cNvSpPr/>
            <p:nvPr/>
          </p:nvSpPr>
          <p:spPr>
            <a:xfrm>
              <a:off x="6860800" y="702525"/>
              <a:ext cx="461700" cy="461700"/>
            </a:xfrm>
            <a:prstGeom prst="ellipse">
              <a:avLst/>
            </a:prstGeom>
            <a:solidFill>
              <a:srgbClr val="78C92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2"/>
            <p:cNvSpPr txBox="1"/>
            <p:nvPr/>
          </p:nvSpPr>
          <p:spPr>
            <a:xfrm>
              <a:off x="6891297" y="716475"/>
              <a:ext cx="461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lt1"/>
                  </a:solidFill>
                </a:rPr>
                <a:t>40</a:t>
              </a:r>
              <a:endParaRPr b="1" sz="1600">
                <a:solidFill>
                  <a:schemeClr val="lt1"/>
                </a:solidFill>
              </a:endParaRPr>
            </a:p>
          </p:txBody>
        </p:sp>
      </p:grpSp>
      <p:grpSp>
        <p:nvGrpSpPr>
          <p:cNvPr id="151" name="Google Shape;151;p2"/>
          <p:cNvGrpSpPr/>
          <p:nvPr/>
        </p:nvGrpSpPr>
        <p:grpSpPr>
          <a:xfrm>
            <a:off x="4985508" y="5031522"/>
            <a:ext cx="492197" cy="461700"/>
            <a:chOff x="6860800" y="702525"/>
            <a:chExt cx="492197" cy="461700"/>
          </a:xfrm>
        </p:grpSpPr>
        <p:sp>
          <p:nvSpPr>
            <p:cNvPr id="152" name="Google Shape;152;p2"/>
            <p:cNvSpPr/>
            <p:nvPr/>
          </p:nvSpPr>
          <p:spPr>
            <a:xfrm>
              <a:off x="6860800" y="702525"/>
              <a:ext cx="461700" cy="461700"/>
            </a:xfrm>
            <a:prstGeom prst="ellipse">
              <a:avLst/>
            </a:prstGeom>
            <a:solidFill>
              <a:srgbClr val="78C92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2"/>
            <p:cNvSpPr txBox="1"/>
            <p:nvPr/>
          </p:nvSpPr>
          <p:spPr>
            <a:xfrm>
              <a:off x="6891297" y="716475"/>
              <a:ext cx="461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lt1"/>
                  </a:solidFill>
                </a:rPr>
                <a:t>9</a:t>
              </a:r>
              <a:r>
                <a:rPr b="1" lang="en-US" sz="1600">
                  <a:solidFill>
                    <a:schemeClr val="lt1"/>
                  </a:solidFill>
                </a:rPr>
                <a:t>0</a:t>
              </a:r>
              <a:endParaRPr b="1" sz="1600">
                <a:solidFill>
                  <a:schemeClr val="lt1"/>
                </a:solidFil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
          <p:cNvSpPr txBox="1"/>
          <p:nvPr/>
        </p:nvSpPr>
        <p:spPr>
          <a:xfrm>
            <a:off x="517888" y="1474989"/>
            <a:ext cx="5239500" cy="575700"/>
          </a:xfrm>
          <a:prstGeom prst="rect">
            <a:avLst/>
          </a:prstGeom>
          <a:noFill/>
          <a:ln>
            <a:noFill/>
          </a:ln>
        </p:spPr>
        <p:txBody>
          <a:bodyPr anchorCtr="0" anchor="ctr" bIns="121900" lIns="121900" spcFirstLastPara="1" rIns="121900" wrap="square" tIns="121900">
            <a:noAutofit/>
          </a:bodyPr>
          <a:lstStyle/>
          <a:p>
            <a:pPr indent="0" lvl="0" marL="0" marR="0" rtl="0" algn="l">
              <a:lnSpc>
                <a:spcPct val="90000"/>
              </a:lnSpc>
              <a:spcBef>
                <a:spcPts val="0"/>
              </a:spcBef>
              <a:spcAft>
                <a:spcPts val="0"/>
              </a:spcAft>
              <a:buClr>
                <a:schemeClr val="lt1"/>
              </a:buClr>
              <a:buSzPts val="3200"/>
              <a:buFont typeface="Arial"/>
              <a:buNone/>
            </a:pPr>
            <a:r>
              <a:rPr b="1" lang="en-US" sz="2400">
                <a:solidFill>
                  <a:srgbClr val="22477B"/>
                </a:solidFill>
                <a:latin typeface="Open Sans"/>
                <a:ea typeface="Open Sans"/>
                <a:cs typeface="Open Sans"/>
                <a:sym typeface="Open Sans"/>
              </a:rPr>
              <a:t>Noise</a:t>
            </a:r>
            <a:endParaRPr b="1" sz="2400">
              <a:solidFill>
                <a:srgbClr val="22477B"/>
              </a:solidFill>
              <a:latin typeface="Open Sans"/>
              <a:ea typeface="Open Sans"/>
              <a:cs typeface="Open Sans"/>
              <a:sym typeface="Open Sans"/>
            </a:endParaRPr>
          </a:p>
        </p:txBody>
      </p:sp>
      <p:sp>
        <p:nvSpPr>
          <p:cNvPr id="159" name="Google Shape;159;p3"/>
          <p:cNvSpPr/>
          <p:nvPr/>
        </p:nvSpPr>
        <p:spPr>
          <a:xfrm>
            <a:off x="476075" y="2040134"/>
            <a:ext cx="9674400" cy="51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Open Sans"/>
              <a:ea typeface="Open Sans"/>
              <a:cs typeface="Open Sans"/>
              <a:sym typeface="Open Sans"/>
            </a:endParaRPr>
          </a:p>
        </p:txBody>
      </p:sp>
      <p:sp>
        <p:nvSpPr>
          <p:cNvPr id="160" name="Google Shape;160;p3"/>
          <p:cNvSpPr txBox="1"/>
          <p:nvPr/>
        </p:nvSpPr>
        <p:spPr>
          <a:xfrm>
            <a:off x="476075" y="2040134"/>
            <a:ext cx="9674400" cy="513300"/>
          </a:xfrm>
          <a:prstGeom prst="rect">
            <a:avLst/>
          </a:prstGeom>
          <a:noFill/>
          <a:ln>
            <a:noFill/>
          </a:ln>
        </p:spPr>
        <p:txBody>
          <a:bodyPr anchorCtr="0" anchor="t" bIns="25400" lIns="168325" spcFirstLastPara="1" rIns="142225" wrap="square" tIns="25400">
            <a:noAutofit/>
          </a:bodyPr>
          <a:lstStyle/>
          <a:p>
            <a:pPr indent="0" lvl="0" marL="0" marR="0" rtl="0" algn="l">
              <a:lnSpc>
                <a:spcPct val="115000"/>
              </a:lnSpc>
              <a:spcBef>
                <a:spcPts val="0"/>
              </a:spcBef>
              <a:spcAft>
                <a:spcPts val="0"/>
              </a:spcAft>
              <a:buNone/>
            </a:pPr>
            <a:r>
              <a:rPr i="0" lang="en-US" sz="1700" u="none" cap="none" strike="noStrike">
                <a:solidFill>
                  <a:schemeClr val="dk1"/>
                </a:solidFill>
                <a:latin typeface="Open Sans"/>
                <a:ea typeface="Open Sans"/>
                <a:cs typeface="Open Sans"/>
                <a:sym typeface="Open Sans"/>
              </a:rPr>
              <a:t>Diverse info sources of varying quality &amp; timeliness, </a:t>
            </a:r>
            <a:r>
              <a:rPr lang="en-US" sz="1700">
                <a:solidFill>
                  <a:schemeClr val="dk1"/>
                </a:solidFill>
                <a:latin typeface="Open Sans"/>
                <a:ea typeface="Open Sans"/>
                <a:cs typeface="Open Sans"/>
                <a:sym typeface="Open Sans"/>
              </a:rPr>
              <a:t>advice</a:t>
            </a:r>
            <a:r>
              <a:rPr i="0" lang="en-US" sz="1700" u="none" cap="none" strike="noStrike">
                <a:solidFill>
                  <a:schemeClr val="dk1"/>
                </a:solidFill>
                <a:latin typeface="Open Sans"/>
                <a:ea typeface="Open Sans"/>
                <a:cs typeface="Open Sans"/>
                <a:sym typeface="Open Sans"/>
              </a:rPr>
              <a:t> from “Experts” </a:t>
            </a:r>
            <a:endParaRPr i="0" sz="1700" u="none" cap="none" strike="noStrike">
              <a:solidFill>
                <a:schemeClr val="dk1"/>
              </a:solidFill>
              <a:latin typeface="Open Sans"/>
              <a:ea typeface="Open Sans"/>
              <a:cs typeface="Open Sans"/>
              <a:sym typeface="Open Sans"/>
            </a:endParaRPr>
          </a:p>
        </p:txBody>
      </p:sp>
      <p:sp>
        <p:nvSpPr>
          <p:cNvPr id="161" name="Google Shape;161;p3"/>
          <p:cNvSpPr txBox="1"/>
          <p:nvPr/>
        </p:nvSpPr>
        <p:spPr>
          <a:xfrm>
            <a:off x="517888" y="2940880"/>
            <a:ext cx="5239500" cy="575700"/>
          </a:xfrm>
          <a:prstGeom prst="rect">
            <a:avLst/>
          </a:prstGeom>
          <a:noFill/>
          <a:ln>
            <a:noFill/>
          </a:ln>
        </p:spPr>
        <p:txBody>
          <a:bodyPr anchorCtr="0" anchor="ctr" bIns="121900" lIns="121900" spcFirstLastPara="1" rIns="121900" wrap="square" tIns="121900">
            <a:noAutofit/>
          </a:bodyPr>
          <a:lstStyle/>
          <a:p>
            <a:pPr indent="0" lvl="0" marL="0" marR="0" rtl="0" algn="l">
              <a:lnSpc>
                <a:spcPct val="90000"/>
              </a:lnSpc>
              <a:spcBef>
                <a:spcPts val="0"/>
              </a:spcBef>
              <a:spcAft>
                <a:spcPts val="0"/>
              </a:spcAft>
              <a:buClr>
                <a:schemeClr val="lt1"/>
              </a:buClr>
              <a:buSzPts val="3200"/>
              <a:buFont typeface="Arial"/>
              <a:buNone/>
            </a:pPr>
            <a:r>
              <a:rPr b="1" lang="en-US" sz="2400">
                <a:solidFill>
                  <a:srgbClr val="22477B"/>
                </a:solidFill>
                <a:latin typeface="Open Sans"/>
                <a:ea typeface="Open Sans"/>
                <a:cs typeface="Open Sans"/>
                <a:sym typeface="Open Sans"/>
              </a:rPr>
              <a:t>Monitoring</a:t>
            </a:r>
            <a:endParaRPr b="1" sz="2400">
              <a:solidFill>
                <a:srgbClr val="22477B"/>
              </a:solidFill>
              <a:latin typeface="Open Sans"/>
              <a:ea typeface="Open Sans"/>
              <a:cs typeface="Open Sans"/>
              <a:sym typeface="Open Sans"/>
            </a:endParaRPr>
          </a:p>
        </p:txBody>
      </p:sp>
      <p:sp>
        <p:nvSpPr>
          <p:cNvPr id="162" name="Google Shape;162;p3"/>
          <p:cNvSpPr/>
          <p:nvPr/>
        </p:nvSpPr>
        <p:spPr>
          <a:xfrm>
            <a:off x="490014" y="3501524"/>
            <a:ext cx="9674400" cy="735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Open Sans"/>
              <a:ea typeface="Open Sans"/>
              <a:cs typeface="Open Sans"/>
              <a:sym typeface="Open Sans"/>
            </a:endParaRPr>
          </a:p>
        </p:txBody>
      </p:sp>
      <p:sp>
        <p:nvSpPr>
          <p:cNvPr id="163" name="Google Shape;163;p3"/>
          <p:cNvSpPr txBox="1"/>
          <p:nvPr/>
        </p:nvSpPr>
        <p:spPr>
          <a:xfrm>
            <a:off x="490014" y="3515463"/>
            <a:ext cx="9674400" cy="735600"/>
          </a:xfrm>
          <a:prstGeom prst="rect">
            <a:avLst/>
          </a:prstGeom>
          <a:noFill/>
          <a:ln>
            <a:noFill/>
          </a:ln>
        </p:spPr>
        <p:txBody>
          <a:bodyPr anchorCtr="0" anchor="t" bIns="25400" lIns="168325" spcFirstLastPara="1" rIns="142225" wrap="square" tIns="25400">
            <a:noAutofit/>
          </a:bodyPr>
          <a:lstStyle/>
          <a:p>
            <a:pPr indent="0" lvl="0" marL="0" marR="0" rtl="0" algn="l">
              <a:lnSpc>
                <a:spcPct val="115000"/>
              </a:lnSpc>
              <a:spcBef>
                <a:spcPts val="0"/>
              </a:spcBef>
              <a:spcAft>
                <a:spcPts val="0"/>
              </a:spcAft>
              <a:buNone/>
            </a:pPr>
            <a:r>
              <a:rPr i="0" lang="en-US" sz="1700" u="none" cap="none" strike="noStrike">
                <a:solidFill>
                  <a:schemeClr val="dk1"/>
                </a:solidFill>
                <a:latin typeface="Open Sans"/>
                <a:ea typeface="Open Sans"/>
                <a:cs typeface="Open Sans"/>
                <a:sym typeface="Open Sans"/>
              </a:rPr>
              <a:t>Constant eyeballing charts, listening to news, deciding on what to make of policy changes </a:t>
            </a:r>
            <a:endParaRPr i="0" sz="1700" u="none" cap="none" strike="noStrike">
              <a:solidFill>
                <a:schemeClr val="dk1"/>
              </a:solidFill>
              <a:latin typeface="Open Sans"/>
              <a:ea typeface="Open Sans"/>
              <a:cs typeface="Open Sans"/>
              <a:sym typeface="Open Sans"/>
            </a:endParaRPr>
          </a:p>
        </p:txBody>
      </p:sp>
      <p:sp>
        <p:nvSpPr>
          <p:cNvPr id="164" name="Google Shape;164;p3"/>
          <p:cNvSpPr txBox="1"/>
          <p:nvPr/>
        </p:nvSpPr>
        <p:spPr>
          <a:xfrm>
            <a:off x="531827" y="4393174"/>
            <a:ext cx="5239500" cy="575700"/>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chemeClr val="lt1"/>
              </a:buClr>
              <a:buSzPts val="3200"/>
              <a:buFont typeface="Arial"/>
              <a:buNone/>
            </a:pPr>
            <a:r>
              <a:rPr b="1" lang="en-US" sz="2400">
                <a:solidFill>
                  <a:srgbClr val="22477B"/>
                </a:solidFill>
                <a:latin typeface="Open Sans"/>
                <a:ea typeface="Open Sans"/>
                <a:cs typeface="Open Sans"/>
                <a:sym typeface="Open Sans"/>
              </a:rPr>
              <a:t>Skill vs Luck</a:t>
            </a:r>
            <a:endParaRPr b="1" sz="2400">
              <a:solidFill>
                <a:srgbClr val="22477B"/>
              </a:solidFill>
              <a:latin typeface="Open Sans"/>
              <a:ea typeface="Open Sans"/>
              <a:cs typeface="Open Sans"/>
              <a:sym typeface="Open Sans"/>
            </a:endParaRPr>
          </a:p>
        </p:txBody>
      </p:sp>
      <p:sp>
        <p:nvSpPr>
          <p:cNvPr id="165" name="Google Shape;165;p3"/>
          <p:cNvSpPr txBox="1"/>
          <p:nvPr/>
        </p:nvSpPr>
        <p:spPr>
          <a:xfrm>
            <a:off x="336685" y="4968976"/>
            <a:ext cx="9674400" cy="1417500"/>
          </a:xfrm>
          <a:prstGeom prst="rect">
            <a:avLst/>
          </a:prstGeom>
          <a:noFill/>
          <a:ln>
            <a:noFill/>
          </a:ln>
        </p:spPr>
        <p:txBody>
          <a:bodyPr anchorCtr="0" anchor="t" bIns="40625" lIns="168325" spcFirstLastPara="1" rIns="227575" wrap="square" tIns="40625">
            <a:noAutofit/>
          </a:bodyPr>
          <a:lstStyle/>
          <a:p>
            <a:pPr indent="-304800" lvl="0" marL="457200" marR="0" rtl="0" algn="l">
              <a:lnSpc>
                <a:spcPct val="150000"/>
              </a:lnSpc>
              <a:spcBef>
                <a:spcPts val="0"/>
              </a:spcBef>
              <a:spcAft>
                <a:spcPts val="0"/>
              </a:spcAft>
              <a:buClr>
                <a:schemeClr val="dk1"/>
              </a:buClr>
              <a:buSzPts val="1200"/>
              <a:buFont typeface="Open Sans"/>
              <a:buChar char="●"/>
            </a:pPr>
            <a:r>
              <a:rPr lang="en-US" sz="1700">
                <a:solidFill>
                  <a:schemeClr val="dk1"/>
                </a:solidFill>
                <a:latin typeface="Open Sans"/>
                <a:ea typeface="Open Sans"/>
                <a:cs typeface="Open Sans"/>
                <a:sym typeface="Open Sans"/>
              </a:rPr>
              <a:t>70–90% of retail investors lose money</a:t>
            </a:r>
            <a:endParaRPr sz="1700">
              <a:solidFill>
                <a:schemeClr val="dk1"/>
              </a:solidFill>
              <a:latin typeface="Open Sans"/>
              <a:ea typeface="Open Sans"/>
              <a:cs typeface="Open Sans"/>
              <a:sym typeface="Open Sans"/>
            </a:endParaRPr>
          </a:p>
          <a:p>
            <a:pPr indent="-304800" lvl="0" marL="457200" marR="0" rtl="0" algn="l">
              <a:lnSpc>
                <a:spcPct val="150000"/>
              </a:lnSpc>
              <a:spcBef>
                <a:spcPts val="0"/>
              </a:spcBef>
              <a:spcAft>
                <a:spcPts val="0"/>
              </a:spcAft>
              <a:buClr>
                <a:schemeClr val="dk1"/>
              </a:buClr>
              <a:buSzPts val="1200"/>
              <a:buFont typeface="Open Sans"/>
              <a:buChar char="●"/>
            </a:pPr>
            <a:r>
              <a:rPr lang="en-US" sz="1700">
                <a:solidFill>
                  <a:schemeClr val="dk1"/>
                </a:solidFill>
                <a:latin typeface="Open Sans"/>
                <a:ea typeface="Open Sans"/>
                <a:cs typeface="Open Sans"/>
                <a:sym typeface="Open Sans"/>
              </a:rPr>
              <a:t>For the 1 trade that retail investors make money, brag to friends about their 90% win</a:t>
            </a:r>
            <a:endParaRPr b="1" i="0" sz="1700" u="none" cap="none" strike="noStrike">
              <a:solidFill>
                <a:srgbClr val="22477B"/>
              </a:solidFill>
              <a:latin typeface="Open Sans"/>
              <a:ea typeface="Open Sans"/>
              <a:cs typeface="Open Sans"/>
              <a:sym typeface="Open Sans"/>
            </a:endParaRPr>
          </a:p>
        </p:txBody>
      </p:sp>
      <p:sp>
        <p:nvSpPr>
          <p:cNvPr id="166" name="Google Shape;166;p3"/>
          <p:cNvSpPr/>
          <p:nvPr/>
        </p:nvSpPr>
        <p:spPr>
          <a:xfrm>
            <a:off x="0" y="236875"/>
            <a:ext cx="5996671" cy="785650"/>
          </a:xfrm>
          <a:custGeom>
            <a:rect b="b" l="l" r="r" t="t"/>
            <a:pathLst>
              <a:path extrusionOk="0" h="31426" w="228706">
                <a:moveTo>
                  <a:pt x="0" y="0"/>
                </a:moveTo>
                <a:lnTo>
                  <a:pt x="0" y="31426"/>
                </a:lnTo>
                <a:lnTo>
                  <a:pt x="210870" y="30892"/>
                </a:lnTo>
                <a:lnTo>
                  <a:pt x="228706" y="247"/>
                </a:lnTo>
                <a:close/>
              </a:path>
            </a:pathLst>
          </a:custGeom>
          <a:solidFill>
            <a:srgbClr val="6390CE"/>
          </a:solidFill>
          <a:ln>
            <a:noFill/>
          </a:ln>
        </p:spPr>
      </p:sp>
      <p:sp>
        <p:nvSpPr>
          <p:cNvPr id="167" name="Google Shape;167;p3"/>
          <p:cNvSpPr/>
          <p:nvPr/>
        </p:nvSpPr>
        <p:spPr>
          <a:xfrm>
            <a:off x="206417" y="278692"/>
            <a:ext cx="5385900" cy="673800"/>
          </a:xfrm>
          <a:prstGeom prst="roundRect">
            <a:avLst>
              <a:gd fmla="val 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500">
                <a:solidFill>
                  <a:schemeClr val="lt1"/>
                </a:solidFill>
                <a:latin typeface="Open Sans"/>
                <a:ea typeface="Open Sans"/>
                <a:cs typeface="Open Sans"/>
                <a:sym typeface="Open Sans"/>
              </a:rPr>
              <a:t>Common ‘Investment’ Issues</a:t>
            </a:r>
            <a:endParaRPr b="1" sz="2500">
              <a:solidFill>
                <a:schemeClr val="lt1"/>
              </a:solidFill>
              <a:latin typeface="Open Sans"/>
              <a:ea typeface="Open Sans"/>
              <a:cs typeface="Open Sans"/>
              <a:sym typeface="Open Sans"/>
            </a:endParaRPr>
          </a:p>
        </p:txBody>
      </p:sp>
      <p:pic>
        <p:nvPicPr>
          <p:cNvPr id="168" name="Google Shape;168;p3"/>
          <p:cNvPicPr preferRelativeResize="0"/>
          <p:nvPr/>
        </p:nvPicPr>
        <p:blipFill>
          <a:blip r:embed="rId3">
            <a:alphaModFix/>
          </a:blip>
          <a:stretch>
            <a:fillRect/>
          </a:stretch>
        </p:blipFill>
        <p:spPr>
          <a:xfrm>
            <a:off x="11004389" y="129417"/>
            <a:ext cx="1075787" cy="786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da32cebd10_0_12"/>
          <p:cNvSpPr txBox="1"/>
          <p:nvPr/>
        </p:nvSpPr>
        <p:spPr>
          <a:xfrm>
            <a:off x="531827" y="1516806"/>
            <a:ext cx="5239500" cy="575700"/>
          </a:xfrm>
          <a:prstGeom prst="rect">
            <a:avLst/>
          </a:prstGeom>
          <a:noFill/>
          <a:ln>
            <a:noFill/>
          </a:ln>
        </p:spPr>
        <p:txBody>
          <a:bodyPr anchorCtr="0" anchor="ctr" bIns="121900" lIns="121900" spcFirstLastPara="1" rIns="121900" wrap="square" tIns="121900">
            <a:noAutofit/>
          </a:bodyPr>
          <a:lstStyle/>
          <a:p>
            <a:pPr indent="0" lvl="0" marL="0" marR="0" rtl="0" algn="l">
              <a:lnSpc>
                <a:spcPct val="90000"/>
              </a:lnSpc>
              <a:spcBef>
                <a:spcPts val="0"/>
              </a:spcBef>
              <a:spcAft>
                <a:spcPts val="0"/>
              </a:spcAft>
              <a:buClr>
                <a:schemeClr val="lt1"/>
              </a:buClr>
              <a:buSzPts val="3200"/>
              <a:buFont typeface="Arial"/>
              <a:buNone/>
            </a:pPr>
            <a:r>
              <a:rPr b="1" lang="en-US" sz="2400">
                <a:solidFill>
                  <a:srgbClr val="22477B"/>
                </a:solidFill>
                <a:latin typeface="Open Sans"/>
                <a:ea typeface="Open Sans"/>
                <a:cs typeface="Open Sans"/>
                <a:sym typeface="Open Sans"/>
              </a:rPr>
              <a:t>Portfolio Construction</a:t>
            </a:r>
            <a:endParaRPr b="1" sz="2400">
              <a:solidFill>
                <a:srgbClr val="22477B"/>
              </a:solidFill>
              <a:latin typeface="Open Sans"/>
              <a:ea typeface="Open Sans"/>
              <a:cs typeface="Open Sans"/>
              <a:sym typeface="Open Sans"/>
            </a:endParaRPr>
          </a:p>
        </p:txBody>
      </p:sp>
      <p:sp>
        <p:nvSpPr>
          <p:cNvPr id="174" name="Google Shape;174;g3da32cebd10_0_12"/>
          <p:cNvSpPr/>
          <p:nvPr/>
        </p:nvSpPr>
        <p:spPr>
          <a:xfrm>
            <a:off x="490010" y="2081940"/>
            <a:ext cx="5301600" cy="51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Open Sans"/>
              <a:ea typeface="Open Sans"/>
              <a:cs typeface="Open Sans"/>
              <a:sym typeface="Open Sans"/>
            </a:endParaRPr>
          </a:p>
        </p:txBody>
      </p:sp>
      <p:sp>
        <p:nvSpPr>
          <p:cNvPr id="175" name="Google Shape;175;g3da32cebd10_0_12"/>
          <p:cNvSpPr txBox="1"/>
          <p:nvPr/>
        </p:nvSpPr>
        <p:spPr>
          <a:xfrm>
            <a:off x="488913" y="2081951"/>
            <a:ext cx="9601500" cy="513300"/>
          </a:xfrm>
          <a:prstGeom prst="rect">
            <a:avLst/>
          </a:prstGeom>
          <a:noFill/>
          <a:ln>
            <a:noFill/>
          </a:ln>
        </p:spPr>
        <p:txBody>
          <a:bodyPr anchorCtr="0" anchor="t" bIns="25400" lIns="168325" spcFirstLastPara="1" rIns="142225" wrap="square" tIns="25400">
            <a:noAutofit/>
          </a:bodyPr>
          <a:lstStyle/>
          <a:p>
            <a:pPr indent="0" lvl="0" marL="0" marR="0" rtl="0" algn="l">
              <a:lnSpc>
                <a:spcPct val="115000"/>
              </a:lnSpc>
              <a:spcBef>
                <a:spcPts val="0"/>
              </a:spcBef>
              <a:spcAft>
                <a:spcPts val="0"/>
              </a:spcAft>
              <a:buNone/>
            </a:pPr>
            <a:r>
              <a:rPr lang="en-US" sz="1700">
                <a:solidFill>
                  <a:schemeClr val="dk1"/>
                </a:solidFill>
                <a:latin typeface="Open Sans"/>
                <a:ea typeface="Open Sans"/>
                <a:cs typeface="Open Sans"/>
                <a:sym typeface="Open Sans"/>
              </a:rPr>
              <a:t>Signal Diversification through various portfolio construction techniques to achieve optimal risk-adjusted returns</a:t>
            </a:r>
            <a:endParaRPr i="0" sz="1700" u="none" cap="none" strike="noStrike">
              <a:solidFill>
                <a:schemeClr val="dk1"/>
              </a:solidFill>
              <a:latin typeface="Open Sans"/>
              <a:ea typeface="Open Sans"/>
              <a:cs typeface="Open Sans"/>
              <a:sym typeface="Open Sans"/>
            </a:endParaRPr>
          </a:p>
        </p:txBody>
      </p:sp>
      <p:sp>
        <p:nvSpPr>
          <p:cNvPr id="176" name="Google Shape;176;g3da32cebd10_0_12"/>
          <p:cNvSpPr txBox="1"/>
          <p:nvPr/>
        </p:nvSpPr>
        <p:spPr>
          <a:xfrm>
            <a:off x="531827" y="3191783"/>
            <a:ext cx="5239500" cy="575700"/>
          </a:xfrm>
          <a:prstGeom prst="rect">
            <a:avLst/>
          </a:prstGeom>
          <a:noFill/>
          <a:ln>
            <a:noFill/>
          </a:ln>
        </p:spPr>
        <p:txBody>
          <a:bodyPr anchorCtr="0" anchor="ctr" bIns="121900" lIns="121900" spcFirstLastPara="1" rIns="121900" wrap="square" tIns="121900">
            <a:noAutofit/>
          </a:bodyPr>
          <a:lstStyle/>
          <a:p>
            <a:pPr indent="0" lvl="0" marL="0" marR="0" rtl="0" algn="l">
              <a:lnSpc>
                <a:spcPct val="90000"/>
              </a:lnSpc>
              <a:spcBef>
                <a:spcPts val="0"/>
              </a:spcBef>
              <a:spcAft>
                <a:spcPts val="0"/>
              </a:spcAft>
              <a:buClr>
                <a:schemeClr val="lt1"/>
              </a:buClr>
              <a:buSzPts val="3200"/>
              <a:buFont typeface="Arial"/>
              <a:buNone/>
            </a:pPr>
            <a:r>
              <a:rPr b="1" lang="en-US" sz="2400">
                <a:solidFill>
                  <a:srgbClr val="22477B"/>
                </a:solidFill>
                <a:latin typeface="Open Sans"/>
                <a:ea typeface="Open Sans"/>
                <a:cs typeface="Open Sans"/>
                <a:sym typeface="Open Sans"/>
              </a:rPr>
              <a:t>Alpha</a:t>
            </a:r>
            <a:endParaRPr b="1" sz="2400">
              <a:solidFill>
                <a:srgbClr val="22477B"/>
              </a:solidFill>
              <a:latin typeface="Open Sans"/>
              <a:ea typeface="Open Sans"/>
              <a:cs typeface="Open Sans"/>
              <a:sym typeface="Open Sans"/>
            </a:endParaRPr>
          </a:p>
        </p:txBody>
      </p:sp>
      <p:sp>
        <p:nvSpPr>
          <p:cNvPr id="177" name="Google Shape;177;g3da32cebd10_0_12"/>
          <p:cNvSpPr/>
          <p:nvPr/>
        </p:nvSpPr>
        <p:spPr>
          <a:xfrm>
            <a:off x="490010" y="3738486"/>
            <a:ext cx="5301600" cy="735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Open Sans"/>
              <a:ea typeface="Open Sans"/>
              <a:cs typeface="Open Sans"/>
              <a:sym typeface="Open Sans"/>
            </a:endParaRPr>
          </a:p>
        </p:txBody>
      </p:sp>
      <p:sp>
        <p:nvSpPr>
          <p:cNvPr id="178" name="Google Shape;178;g3da32cebd10_0_12"/>
          <p:cNvSpPr txBox="1"/>
          <p:nvPr/>
        </p:nvSpPr>
        <p:spPr>
          <a:xfrm>
            <a:off x="488913" y="3738497"/>
            <a:ext cx="9601500" cy="735600"/>
          </a:xfrm>
          <a:prstGeom prst="rect">
            <a:avLst/>
          </a:prstGeom>
          <a:noFill/>
          <a:ln>
            <a:noFill/>
          </a:ln>
        </p:spPr>
        <p:txBody>
          <a:bodyPr anchorCtr="0" anchor="t" bIns="25400" lIns="168325" spcFirstLastPara="1" rIns="142225" wrap="square" tIns="25400">
            <a:noAutofit/>
          </a:bodyPr>
          <a:lstStyle/>
          <a:p>
            <a:pPr indent="0" lvl="0" marL="0" marR="0" rtl="0" algn="l">
              <a:lnSpc>
                <a:spcPct val="115000"/>
              </a:lnSpc>
              <a:spcBef>
                <a:spcPts val="0"/>
              </a:spcBef>
              <a:spcAft>
                <a:spcPts val="0"/>
              </a:spcAft>
              <a:buNone/>
            </a:pPr>
            <a:r>
              <a:rPr lang="en-US" sz="1700">
                <a:solidFill>
                  <a:schemeClr val="dk1"/>
                </a:solidFill>
                <a:latin typeface="Open Sans"/>
                <a:ea typeface="Open Sans"/>
                <a:cs typeface="Open Sans"/>
                <a:sym typeface="Open Sans"/>
              </a:rPr>
              <a:t>Signal generation using quantitative methods, and allocation to prevailing investment themes on a risk-aware basis    </a:t>
            </a:r>
            <a:endParaRPr sz="1700">
              <a:solidFill>
                <a:schemeClr val="dk1"/>
              </a:solidFill>
              <a:latin typeface="Open Sans"/>
              <a:ea typeface="Open Sans"/>
              <a:cs typeface="Open Sans"/>
              <a:sym typeface="Open Sans"/>
            </a:endParaRPr>
          </a:p>
        </p:txBody>
      </p:sp>
      <p:sp>
        <p:nvSpPr>
          <p:cNvPr id="179" name="Google Shape;179;g3da32cebd10_0_12"/>
          <p:cNvSpPr txBox="1"/>
          <p:nvPr/>
        </p:nvSpPr>
        <p:spPr>
          <a:xfrm>
            <a:off x="545766" y="4867101"/>
            <a:ext cx="5239500" cy="575700"/>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chemeClr val="lt1"/>
              </a:buClr>
              <a:buSzPts val="3200"/>
              <a:buFont typeface="Arial"/>
              <a:buNone/>
            </a:pPr>
            <a:r>
              <a:rPr b="1" lang="en-US" sz="2400">
                <a:solidFill>
                  <a:srgbClr val="22477B"/>
                </a:solidFill>
                <a:latin typeface="Open Sans"/>
                <a:ea typeface="Open Sans"/>
                <a:cs typeface="Open Sans"/>
                <a:sym typeface="Open Sans"/>
              </a:rPr>
              <a:t>Selection</a:t>
            </a:r>
            <a:endParaRPr b="1" sz="2400">
              <a:solidFill>
                <a:srgbClr val="22477B"/>
              </a:solidFill>
              <a:latin typeface="Open Sans"/>
              <a:ea typeface="Open Sans"/>
              <a:cs typeface="Open Sans"/>
              <a:sym typeface="Open Sans"/>
            </a:endParaRPr>
          </a:p>
        </p:txBody>
      </p:sp>
      <p:sp>
        <p:nvSpPr>
          <p:cNvPr id="180" name="Google Shape;180;g3da32cebd10_0_12"/>
          <p:cNvSpPr txBox="1"/>
          <p:nvPr/>
        </p:nvSpPr>
        <p:spPr>
          <a:xfrm>
            <a:off x="350628" y="5442913"/>
            <a:ext cx="10427100" cy="1417500"/>
          </a:xfrm>
          <a:prstGeom prst="rect">
            <a:avLst/>
          </a:prstGeom>
          <a:noFill/>
          <a:ln>
            <a:noFill/>
          </a:ln>
        </p:spPr>
        <p:txBody>
          <a:bodyPr anchorCtr="0" anchor="t" bIns="40625" lIns="168325" spcFirstLastPara="1" rIns="227575" wrap="square" tIns="40625">
            <a:noAutofit/>
          </a:bodyPr>
          <a:lstStyle/>
          <a:p>
            <a:pPr indent="-304800" lvl="0" marL="457200" marR="0" rtl="0" algn="l">
              <a:lnSpc>
                <a:spcPct val="115000"/>
              </a:lnSpc>
              <a:spcBef>
                <a:spcPts val="0"/>
              </a:spcBef>
              <a:spcAft>
                <a:spcPts val="0"/>
              </a:spcAft>
              <a:buClr>
                <a:schemeClr val="dk1"/>
              </a:buClr>
              <a:buSzPts val="1200"/>
              <a:buFont typeface="Open Sans"/>
              <a:buChar char="●"/>
            </a:pPr>
            <a:r>
              <a:rPr lang="en-US" sz="1700">
                <a:solidFill>
                  <a:schemeClr val="dk1"/>
                </a:solidFill>
                <a:latin typeface="Open Sans"/>
                <a:ea typeface="Open Sans"/>
                <a:cs typeface="Open Sans"/>
                <a:sym typeface="Open Sans"/>
              </a:rPr>
              <a:t>Selection of the most liquid and widely held ETFs </a:t>
            </a:r>
            <a:endParaRPr sz="1700">
              <a:solidFill>
                <a:schemeClr val="dk1"/>
              </a:solidFill>
              <a:latin typeface="Open Sans"/>
              <a:ea typeface="Open Sans"/>
              <a:cs typeface="Open Sans"/>
              <a:sym typeface="Open Sans"/>
            </a:endParaRPr>
          </a:p>
          <a:p>
            <a:pPr indent="-304800" lvl="0" marL="457200" marR="0" rtl="0" algn="l">
              <a:lnSpc>
                <a:spcPct val="115000"/>
              </a:lnSpc>
              <a:spcBef>
                <a:spcPts val="0"/>
              </a:spcBef>
              <a:spcAft>
                <a:spcPts val="0"/>
              </a:spcAft>
              <a:buClr>
                <a:schemeClr val="dk1"/>
              </a:buClr>
              <a:buSzPts val="1200"/>
              <a:buFont typeface="Open Sans"/>
              <a:buChar char="●"/>
            </a:pPr>
            <a:r>
              <a:rPr lang="en-US" sz="1700">
                <a:solidFill>
                  <a:schemeClr val="dk1"/>
                </a:solidFill>
                <a:latin typeface="Open Sans"/>
                <a:ea typeface="Open Sans"/>
                <a:cs typeface="Open Sans"/>
                <a:sym typeface="Open Sans"/>
              </a:rPr>
              <a:t>Reduced search costs &amp; inherent diversification through diverse holdings in ETFs</a:t>
            </a:r>
            <a:endParaRPr sz="1700">
              <a:solidFill>
                <a:schemeClr val="dk1"/>
              </a:solidFill>
              <a:latin typeface="Open Sans"/>
              <a:ea typeface="Open Sans"/>
              <a:cs typeface="Open Sans"/>
              <a:sym typeface="Open Sans"/>
            </a:endParaRPr>
          </a:p>
        </p:txBody>
      </p:sp>
      <p:sp>
        <p:nvSpPr>
          <p:cNvPr id="181" name="Google Shape;181;g3da32cebd10_0_12"/>
          <p:cNvSpPr/>
          <p:nvPr/>
        </p:nvSpPr>
        <p:spPr>
          <a:xfrm>
            <a:off x="0" y="236875"/>
            <a:ext cx="7121905" cy="785650"/>
          </a:xfrm>
          <a:custGeom>
            <a:rect b="b" l="l" r="r" t="t"/>
            <a:pathLst>
              <a:path extrusionOk="0" h="31426" w="228706">
                <a:moveTo>
                  <a:pt x="0" y="0"/>
                </a:moveTo>
                <a:lnTo>
                  <a:pt x="0" y="31426"/>
                </a:lnTo>
                <a:lnTo>
                  <a:pt x="210870" y="30892"/>
                </a:lnTo>
                <a:lnTo>
                  <a:pt x="228706" y="247"/>
                </a:lnTo>
                <a:close/>
              </a:path>
            </a:pathLst>
          </a:custGeom>
          <a:solidFill>
            <a:srgbClr val="6390CE"/>
          </a:solidFill>
          <a:ln>
            <a:noFill/>
          </a:ln>
        </p:spPr>
      </p:sp>
      <p:sp>
        <p:nvSpPr>
          <p:cNvPr id="182" name="Google Shape;182;g3da32cebd10_0_12"/>
          <p:cNvSpPr/>
          <p:nvPr/>
        </p:nvSpPr>
        <p:spPr>
          <a:xfrm>
            <a:off x="136726" y="278700"/>
            <a:ext cx="6186600" cy="673800"/>
          </a:xfrm>
          <a:prstGeom prst="roundRect">
            <a:avLst>
              <a:gd fmla="val 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500">
                <a:solidFill>
                  <a:schemeClr val="lt1"/>
                </a:solidFill>
                <a:latin typeface="Open Sans"/>
                <a:ea typeface="Open Sans"/>
                <a:cs typeface="Open Sans"/>
                <a:sym typeface="Open Sans"/>
              </a:rPr>
              <a:t>Elemen79 Investment Philosophy</a:t>
            </a:r>
            <a:endParaRPr b="1" sz="2500">
              <a:solidFill>
                <a:schemeClr val="lt1"/>
              </a:solidFill>
              <a:latin typeface="Open Sans"/>
              <a:ea typeface="Open Sans"/>
              <a:cs typeface="Open Sans"/>
              <a:sym typeface="Open Sans"/>
            </a:endParaRPr>
          </a:p>
        </p:txBody>
      </p:sp>
      <p:pic>
        <p:nvPicPr>
          <p:cNvPr id="183" name="Google Shape;183;g3da32cebd10_0_12"/>
          <p:cNvPicPr preferRelativeResize="0"/>
          <p:nvPr/>
        </p:nvPicPr>
        <p:blipFill>
          <a:blip r:embed="rId3">
            <a:alphaModFix/>
          </a:blip>
          <a:stretch>
            <a:fillRect/>
          </a:stretch>
        </p:blipFill>
        <p:spPr>
          <a:xfrm>
            <a:off x="11004389" y="129417"/>
            <a:ext cx="1075787" cy="786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5"/>
          <p:cNvSpPr/>
          <p:nvPr/>
        </p:nvSpPr>
        <p:spPr>
          <a:xfrm>
            <a:off x="4268354" y="1844662"/>
            <a:ext cx="3812100" cy="3812100"/>
          </a:xfrm>
          <a:prstGeom prst="pie">
            <a:avLst>
              <a:gd fmla="val 16200000" name="adj1"/>
              <a:gd fmla="val 1800000" name="adj2"/>
            </a:avLst>
          </a:prstGeom>
          <a:solidFill>
            <a:srgbClr val="1E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
          <p:cNvSpPr txBox="1"/>
          <p:nvPr/>
        </p:nvSpPr>
        <p:spPr>
          <a:xfrm>
            <a:off x="6277499" y="2652495"/>
            <a:ext cx="1361400" cy="1134600"/>
          </a:xfrm>
          <a:prstGeom prst="rect">
            <a:avLst/>
          </a:prstGeom>
          <a:noFill/>
          <a:ln>
            <a:noFill/>
          </a:ln>
        </p:spPr>
        <p:txBody>
          <a:bodyPr anchorCtr="0" anchor="ctr" bIns="31750" lIns="31750" spcFirstLastPara="1" rIns="31750" wrap="square" tIns="31750">
            <a:noAutofit/>
          </a:bodyPr>
          <a:lstStyle/>
          <a:p>
            <a:pPr indent="0" lvl="0" marL="0" marR="0" rtl="0" algn="ctr">
              <a:lnSpc>
                <a:spcPct val="90000"/>
              </a:lnSpc>
              <a:spcBef>
                <a:spcPts val="0"/>
              </a:spcBef>
              <a:spcAft>
                <a:spcPts val="0"/>
              </a:spcAft>
              <a:buClr>
                <a:schemeClr val="lt1"/>
              </a:buClr>
              <a:buSzPts val="2500"/>
              <a:buFont typeface="Arial"/>
              <a:buNone/>
            </a:pPr>
            <a:r>
              <a:rPr lang="en-US" sz="2500">
                <a:solidFill>
                  <a:schemeClr val="lt1"/>
                </a:solidFill>
                <a:latin typeface="Arial"/>
                <a:ea typeface="Arial"/>
                <a:cs typeface="Arial"/>
                <a:sym typeface="Arial"/>
              </a:rPr>
              <a:t>Analytics</a:t>
            </a:r>
            <a:endParaRPr sz="2500">
              <a:solidFill>
                <a:schemeClr val="lt1"/>
              </a:solidFill>
              <a:latin typeface="Arial"/>
              <a:ea typeface="Arial"/>
              <a:cs typeface="Arial"/>
              <a:sym typeface="Arial"/>
            </a:endParaRPr>
          </a:p>
        </p:txBody>
      </p:sp>
      <p:sp>
        <p:nvSpPr>
          <p:cNvPr id="190" name="Google Shape;190;p5"/>
          <p:cNvSpPr/>
          <p:nvPr/>
        </p:nvSpPr>
        <p:spPr>
          <a:xfrm>
            <a:off x="4189840" y="1980813"/>
            <a:ext cx="3812100" cy="3812100"/>
          </a:xfrm>
          <a:prstGeom prst="pie">
            <a:avLst>
              <a:gd fmla="val 1800000" name="adj1"/>
              <a:gd fmla="val 9000000" name="adj2"/>
            </a:avLst>
          </a:prstGeom>
          <a:solidFill>
            <a:srgbClr val="3361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txBox="1"/>
          <p:nvPr/>
        </p:nvSpPr>
        <p:spPr>
          <a:xfrm>
            <a:off x="5097518" y="4454235"/>
            <a:ext cx="2042400" cy="998400"/>
          </a:xfrm>
          <a:prstGeom prst="rect">
            <a:avLst/>
          </a:prstGeom>
          <a:noFill/>
          <a:ln>
            <a:noFill/>
          </a:ln>
        </p:spPr>
        <p:txBody>
          <a:bodyPr anchorCtr="0" anchor="ctr" bIns="31750" lIns="31750" spcFirstLastPara="1" rIns="31750" wrap="square" tIns="31750">
            <a:noAutofit/>
          </a:bodyPr>
          <a:lstStyle/>
          <a:p>
            <a:pPr indent="0" lvl="0" marL="0" marR="0" rtl="0" algn="ctr">
              <a:lnSpc>
                <a:spcPct val="90000"/>
              </a:lnSpc>
              <a:spcBef>
                <a:spcPts val="0"/>
              </a:spcBef>
              <a:spcAft>
                <a:spcPts val="0"/>
              </a:spcAft>
              <a:buClr>
                <a:schemeClr val="lt1"/>
              </a:buClr>
              <a:buSzPts val="2500"/>
              <a:buFont typeface="Arial"/>
              <a:buNone/>
            </a:pPr>
            <a:r>
              <a:rPr lang="en-US" sz="2500">
                <a:solidFill>
                  <a:schemeClr val="lt1"/>
                </a:solidFill>
                <a:latin typeface="Arial"/>
                <a:ea typeface="Arial"/>
                <a:cs typeface="Arial"/>
                <a:sym typeface="Arial"/>
              </a:rPr>
              <a:t>Portfolio Construction</a:t>
            </a:r>
            <a:endParaRPr sz="2500">
              <a:solidFill>
                <a:schemeClr val="lt1"/>
              </a:solidFill>
              <a:latin typeface="Arial"/>
              <a:ea typeface="Arial"/>
              <a:cs typeface="Arial"/>
              <a:sym typeface="Arial"/>
            </a:endParaRPr>
          </a:p>
        </p:txBody>
      </p:sp>
      <p:sp>
        <p:nvSpPr>
          <p:cNvPr id="192" name="Google Shape;192;p5"/>
          <p:cNvSpPr/>
          <p:nvPr/>
        </p:nvSpPr>
        <p:spPr>
          <a:xfrm>
            <a:off x="4111326" y="1844662"/>
            <a:ext cx="3812100" cy="3812100"/>
          </a:xfrm>
          <a:prstGeom prst="pie">
            <a:avLst>
              <a:gd fmla="val 9000000" name="adj1"/>
              <a:gd fmla="val 16200000" name="adj2"/>
            </a:avLst>
          </a:prstGeom>
          <a:solidFill>
            <a:srgbClr val="6390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
          <p:cNvSpPr txBox="1"/>
          <p:nvPr/>
        </p:nvSpPr>
        <p:spPr>
          <a:xfrm>
            <a:off x="4552911" y="2652495"/>
            <a:ext cx="1361400" cy="1134600"/>
          </a:xfrm>
          <a:prstGeom prst="rect">
            <a:avLst/>
          </a:prstGeom>
          <a:noFill/>
          <a:ln>
            <a:noFill/>
          </a:ln>
        </p:spPr>
        <p:txBody>
          <a:bodyPr anchorCtr="0" anchor="ctr" bIns="31750" lIns="31750" spcFirstLastPara="1" rIns="31750" wrap="square" tIns="31750">
            <a:noAutofit/>
          </a:bodyPr>
          <a:lstStyle/>
          <a:p>
            <a:pPr indent="0" lvl="0" marL="0" marR="0" rtl="0" algn="ctr">
              <a:lnSpc>
                <a:spcPct val="90000"/>
              </a:lnSpc>
              <a:spcBef>
                <a:spcPts val="0"/>
              </a:spcBef>
              <a:spcAft>
                <a:spcPts val="0"/>
              </a:spcAft>
              <a:buClr>
                <a:schemeClr val="lt1"/>
              </a:buClr>
              <a:buSzPts val="2500"/>
              <a:buFont typeface="Arial"/>
              <a:buNone/>
            </a:pPr>
            <a:r>
              <a:rPr lang="en-US" sz="2500">
                <a:solidFill>
                  <a:schemeClr val="lt1"/>
                </a:solidFill>
                <a:latin typeface="Arial"/>
                <a:ea typeface="Arial"/>
                <a:cs typeface="Arial"/>
                <a:sym typeface="Arial"/>
              </a:rPr>
              <a:t>Backtest</a:t>
            </a:r>
            <a:endParaRPr sz="2500">
              <a:solidFill>
                <a:schemeClr val="lt1"/>
              </a:solidFill>
              <a:latin typeface="Arial"/>
              <a:ea typeface="Arial"/>
              <a:cs typeface="Arial"/>
              <a:sym typeface="Arial"/>
            </a:endParaRPr>
          </a:p>
        </p:txBody>
      </p:sp>
      <p:sp>
        <p:nvSpPr>
          <p:cNvPr id="194" name="Google Shape;194;p5"/>
          <p:cNvSpPr/>
          <p:nvPr/>
        </p:nvSpPr>
        <p:spPr>
          <a:xfrm>
            <a:off x="4032673" y="1608666"/>
            <a:ext cx="4284300" cy="4284300"/>
          </a:xfrm>
          <a:custGeom>
            <a:rect b="b" l="l" r="r" t="t"/>
            <a:pathLst>
              <a:path extrusionOk="0" h="120000" w="120000">
                <a:moveTo>
                  <a:pt x="59991" y="4067"/>
                </a:moveTo>
                <a:cubicBezTo>
                  <a:pt x="79078" y="4064"/>
                  <a:pt x="96849" y="13795"/>
                  <a:pt x="107129" y="29878"/>
                </a:cubicBezTo>
                <a:cubicBezTo>
                  <a:pt x="117408" y="45960"/>
                  <a:pt x="118776" y="66175"/>
                  <a:pt x="110758" y="83496"/>
                </a:cubicBezTo>
                <a:lnTo>
                  <a:pt x="114269" y="85523"/>
                </a:lnTo>
                <a:lnTo>
                  <a:pt x="105797" y="86441"/>
                </a:lnTo>
                <a:lnTo>
                  <a:pt x="101940" y="78405"/>
                </a:lnTo>
                <a:lnTo>
                  <a:pt x="105449" y="80431"/>
                </a:lnTo>
                <a:cubicBezTo>
                  <a:pt x="112382" y="65011"/>
                  <a:pt x="111022" y="47127"/>
                  <a:pt x="101838" y="32932"/>
                </a:cubicBezTo>
                <a:cubicBezTo>
                  <a:pt x="92654" y="18737"/>
                  <a:pt x="76899" y="10167"/>
                  <a:pt x="59992" y="10169"/>
                </a:cubicBezTo>
                <a:close/>
              </a:path>
            </a:pathLst>
          </a:custGeom>
          <a:solidFill>
            <a:srgbClr val="4480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a:off x="3953844" y="1744576"/>
            <a:ext cx="4284300" cy="4284300"/>
          </a:xfrm>
          <a:custGeom>
            <a:rect b="b" l="l" r="r" t="t"/>
            <a:pathLst>
              <a:path extrusionOk="0" h="120000" w="120000">
                <a:moveTo>
                  <a:pt x="108435" y="87973"/>
                </a:moveTo>
                <a:cubicBezTo>
                  <a:pt x="98891" y="104498"/>
                  <a:pt x="81581" y="115017"/>
                  <a:pt x="62518" y="115876"/>
                </a:cubicBezTo>
                <a:cubicBezTo>
                  <a:pt x="43454" y="116735"/>
                  <a:pt x="25269" y="107816"/>
                  <a:pt x="14277" y="92216"/>
                </a:cubicBezTo>
                <a:lnTo>
                  <a:pt x="10766" y="94244"/>
                </a:lnTo>
                <a:lnTo>
                  <a:pt x="14207" y="86447"/>
                </a:lnTo>
                <a:lnTo>
                  <a:pt x="23095" y="87124"/>
                </a:lnTo>
                <a:lnTo>
                  <a:pt x="19585" y="89151"/>
                </a:lnTo>
                <a:cubicBezTo>
                  <a:pt x="29474" y="102860"/>
                  <a:pt x="45637" y="110621"/>
                  <a:pt x="62519" y="109767"/>
                </a:cubicBezTo>
                <a:cubicBezTo>
                  <a:pt x="79400" y="108913"/>
                  <a:pt x="94697" y="99559"/>
                  <a:pt x="103151" y="84922"/>
                </a:cubicBezTo>
                <a:close/>
              </a:path>
            </a:pathLst>
          </a:custGeom>
          <a:solidFill>
            <a:srgbClr val="89B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5"/>
          <p:cNvSpPr/>
          <p:nvPr/>
        </p:nvSpPr>
        <p:spPr>
          <a:xfrm>
            <a:off x="3875015" y="1608666"/>
            <a:ext cx="4284300" cy="4284300"/>
          </a:xfrm>
          <a:custGeom>
            <a:rect b="b" l="l" r="r" t="t"/>
            <a:pathLst>
              <a:path extrusionOk="0" h="120000" w="120000">
                <a:moveTo>
                  <a:pt x="11561" y="87966"/>
                </a:moveTo>
                <a:cubicBezTo>
                  <a:pt x="2017" y="71436"/>
                  <a:pt x="1562" y="51181"/>
                  <a:pt x="10353" y="34238"/>
                </a:cubicBezTo>
                <a:cubicBezTo>
                  <a:pt x="19144" y="17296"/>
                  <a:pt x="35968" y="6007"/>
                  <a:pt x="54979" y="4293"/>
                </a:cubicBezTo>
                <a:lnTo>
                  <a:pt x="54979" y="239"/>
                </a:lnTo>
                <a:lnTo>
                  <a:pt x="60009" y="7118"/>
                </a:lnTo>
                <a:lnTo>
                  <a:pt x="54977" y="14476"/>
                </a:lnTo>
                <a:lnTo>
                  <a:pt x="54978" y="10423"/>
                </a:lnTo>
                <a:cubicBezTo>
                  <a:pt x="38157" y="12127"/>
                  <a:pt x="23347" y="22244"/>
                  <a:pt x="15643" y="37294"/>
                </a:cubicBezTo>
                <a:cubicBezTo>
                  <a:pt x="7939" y="52344"/>
                  <a:pt x="8392" y="70273"/>
                  <a:pt x="16845" y="84915"/>
                </a:cubicBezTo>
                <a:close/>
              </a:path>
            </a:pathLst>
          </a:custGeom>
          <a:solidFill>
            <a:srgbClr val="ADC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5"/>
          <p:cNvSpPr/>
          <p:nvPr/>
        </p:nvSpPr>
        <p:spPr>
          <a:xfrm>
            <a:off x="0" y="236875"/>
            <a:ext cx="4769664" cy="785650"/>
          </a:xfrm>
          <a:custGeom>
            <a:rect b="b" l="l" r="r" t="t"/>
            <a:pathLst>
              <a:path extrusionOk="0" h="31426" w="228706">
                <a:moveTo>
                  <a:pt x="0" y="0"/>
                </a:moveTo>
                <a:lnTo>
                  <a:pt x="0" y="31426"/>
                </a:lnTo>
                <a:lnTo>
                  <a:pt x="210870" y="30892"/>
                </a:lnTo>
                <a:lnTo>
                  <a:pt x="228706" y="247"/>
                </a:lnTo>
                <a:close/>
              </a:path>
            </a:pathLst>
          </a:custGeom>
          <a:solidFill>
            <a:srgbClr val="6390CE"/>
          </a:solidFill>
          <a:ln>
            <a:noFill/>
          </a:ln>
        </p:spPr>
      </p:sp>
      <p:sp>
        <p:nvSpPr>
          <p:cNvPr id="198" name="Google Shape;198;p5"/>
          <p:cNvSpPr/>
          <p:nvPr/>
        </p:nvSpPr>
        <p:spPr>
          <a:xfrm>
            <a:off x="723171" y="278700"/>
            <a:ext cx="3392700" cy="673800"/>
          </a:xfrm>
          <a:prstGeom prst="roundRect">
            <a:avLst>
              <a:gd fmla="val 0"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500">
                <a:solidFill>
                  <a:schemeClr val="lt1"/>
                </a:solidFill>
                <a:latin typeface="Open Sans"/>
                <a:ea typeface="Open Sans"/>
                <a:cs typeface="Open Sans"/>
                <a:sym typeface="Open Sans"/>
              </a:rPr>
              <a:t>Investment Process</a:t>
            </a:r>
            <a:endParaRPr b="1" sz="2500">
              <a:solidFill>
                <a:schemeClr val="lt1"/>
              </a:solidFill>
              <a:latin typeface="Open Sans"/>
              <a:ea typeface="Open Sans"/>
              <a:cs typeface="Open Sans"/>
              <a:sym typeface="Open Sans"/>
            </a:endParaRPr>
          </a:p>
        </p:txBody>
      </p:sp>
      <p:pic>
        <p:nvPicPr>
          <p:cNvPr id="199" name="Google Shape;199;p5"/>
          <p:cNvPicPr preferRelativeResize="0"/>
          <p:nvPr/>
        </p:nvPicPr>
        <p:blipFill>
          <a:blip r:embed="rId3">
            <a:alphaModFix/>
          </a:blip>
          <a:stretch>
            <a:fillRect/>
          </a:stretch>
        </p:blipFill>
        <p:spPr>
          <a:xfrm>
            <a:off x="11004389" y="129417"/>
            <a:ext cx="1075787" cy="7862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6"/>
          <p:cNvPicPr preferRelativeResize="0"/>
          <p:nvPr/>
        </p:nvPicPr>
        <p:blipFill rotWithShape="1">
          <a:blip r:embed="rId3">
            <a:alphaModFix/>
          </a:blip>
          <a:srcRect b="0" l="0" r="0" t="0"/>
          <a:stretch/>
        </p:blipFill>
        <p:spPr>
          <a:xfrm>
            <a:off x="432750" y="1497028"/>
            <a:ext cx="11326500" cy="4906500"/>
          </a:xfrm>
          <a:prstGeom prst="roundRect">
            <a:avLst>
              <a:gd fmla="val 2070" name="adj"/>
            </a:avLst>
          </a:prstGeom>
          <a:solidFill>
            <a:srgbClr val="ECECEC"/>
          </a:solidFill>
          <a:ln>
            <a:noFill/>
          </a:ln>
        </p:spPr>
      </p:pic>
      <p:sp>
        <p:nvSpPr>
          <p:cNvPr id="205" name="Google Shape;205;p6"/>
          <p:cNvSpPr/>
          <p:nvPr/>
        </p:nvSpPr>
        <p:spPr>
          <a:xfrm>
            <a:off x="0" y="236875"/>
            <a:ext cx="3153275" cy="786250"/>
          </a:xfrm>
          <a:custGeom>
            <a:rect b="b" l="l" r="r" t="t"/>
            <a:pathLst>
              <a:path extrusionOk="0" h="31450" w="126131">
                <a:moveTo>
                  <a:pt x="0" y="0"/>
                </a:moveTo>
                <a:lnTo>
                  <a:pt x="0" y="31426"/>
                </a:lnTo>
                <a:lnTo>
                  <a:pt x="111066" y="31450"/>
                </a:lnTo>
                <a:lnTo>
                  <a:pt x="126131" y="247"/>
                </a:lnTo>
                <a:close/>
              </a:path>
            </a:pathLst>
          </a:custGeom>
          <a:solidFill>
            <a:srgbClr val="6390CE"/>
          </a:solidFill>
          <a:ln>
            <a:noFill/>
          </a:ln>
        </p:spPr>
      </p:sp>
      <p:sp>
        <p:nvSpPr>
          <p:cNvPr id="206" name="Google Shape;206;p6"/>
          <p:cNvSpPr/>
          <p:nvPr/>
        </p:nvSpPr>
        <p:spPr>
          <a:xfrm>
            <a:off x="723173" y="278700"/>
            <a:ext cx="1914000" cy="673800"/>
          </a:xfrm>
          <a:prstGeom prst="roundRect">
            <a:avLst>
              <a:gd fmla="val 0"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500">
                <a:solidFill>
                  <a:schemeClr val="lt1"/>
                </a:solidFill>
                <a:latin typeface="Open Sans"/>
                <a:ea typeface="Open Sans"/>
                <a:cs typeface="Open Sans"/>
                <a:sym typeface="Open Sans"/>
              </a:rPr>
              <a:t>Backtest</a:t>
            </a:r>
            <a:endParaRPr b="1" sz="2500">
              <a:solidFill>
                <a:schemeClr val="lt1"/>
              </a:solidFill>
              <a:latin typeface="Open Sans"/>
              <a:ea typeface="Open Sans"/>
              <a:cs typeface="Open Sans"/>
              <a:sym typeface="Open Sans"/>
            </a:endParaRPr>
          </a:p>
        </p:txBody>
      </p:sp>
      <p:pic>
        <p:nvPicPr>
          <p:cNvPr id="207" name="Google Shape;207;p6"/>
          <p:cNvPicPr preferRelativeResize="0"/>
          <p:nvPr/>
        </p:nvPicPr>
        <p:blipFill>
          <a:blip r:embed="rId4">
            <a:alphaModFix/>
          </a:blip>
          <a:stretch>
            <a:fillRect/>
          </a:stretch>
        </p:blipFill>
        <p:spPr>
          <a:xfrm>
            <a:off x="11004389" y="129417"/>
            <a:ext cx="1075787" cy="786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da32cebd10_0_35"/>
          <p:cNvSpPr/>
          <p:nvPr/>
        </p:nvSpPr>
        <p:spPr>
          <a:xfrm>
            <a:off x="0" y="236875"/>
            <a:ext cx="3153275" cy="786250"/>
          </a:xfrm>
          <a:custGeom>
            <a:rect b="b" l="l" r="r" t="t"/>
            <a:pathLst>
              <a:path extrusionOk="0" h="31450" w="126131">
                <a:moveTo>
                  <a:pt x="0" y="0"/>
                </a:moveTo>
                <a:lnTo>
                  <a:pt x="0" y="31426"/>
                </a:lnTo>
                <a:lnTo>
                  <a:pt x="111066" y="31450"/>
                </a:lnTo>
                <a:lnTo>
                  <a:pt x="126131" y="247"/>
                </a:lnTo>
                <a:close/>
              </a:path>
            </a:pathLst>
          </a:custGeom>
          <a:solidFill>
            <a:srgbClr val="6390CE"/>
          </a:solidFill>
          <a:ln>
            <a:noFill/>
          </a:ln>
        </p:spPr>
      </p:sp>
      <p:sp>
        <p:nvSpPr>
          <p:cNvPr id="213" name="Google Shape;213;g3da32cebd10_0_35"/>
          <p:cNvSpPr/>
          <p:nvPr/>
        </p:nvSpPr>
        <p:spPr>
          <a:xfrm>
            <a:off x="723173" y="278700"/>
            <a:ext cx="1914000" cy="673800"/>
          </a:xfrm>
          <a:prstGeom prst="roundRect">
            <a:avLst>
              <a:gd fmla="val 0"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500">
                <a:solidFill>
                  <a:schemeClr val="lt1"/>
                </a:solidFill>
                <a:latin typeface="Open Sans"/>
                <a:ea typeface="Open Sans"/>
                <a:cs typeface="Open Sans"/>
                <a:sym typeface="Open Sans"/>
              </a:rPr>
              <a:t>Backtest</a:t>
            </a:r>
            <a:endParaRPr b="1" sz="2500">
              <a:solidFill>
                <a:schemeClr val="lt1"/>
              </a:solidFill>
              <a:latin typeface="Open Sans"/>
              <a:ea typeface="Open Sans"/>
              <a:cs typeface="Open Sans"/>
              <a:sym typeface="Open Sans"/>
            </a:endParaRPr>
          </a:p>
        </p:txBody>
      </p:sp>
      <p:pic>
        <p:nvPicPr>
          <p:cNvPr id="214" name="Google Shape;214;g3da32cebd10_0_35"/>
          <p:cNvPicPr preferRelativeResize="0"/>
          <p:nvPr/>
        </p:nvPicPr>
        <p:blipFill rotWithShape="1">
          <a:blip r:embed="rId3">
            <a:alphaModFix/>
          </a:blip>
          <a:srcRect b="0" l="0" r="0" t="0"/>
          <a:stretch/>
        </p:blipFill>
        <p:spPr>
          <a:xfrm>
            <a:off x="508500" y="1608561"/>
            <a:ext cx="11175000" cy="4605600"/>
          </a:xfrm>
          <a:prstGeom prst="roundRect">
            <a:avLst>
              <a:gd fmla="val 2479" name="adj"/>
            </a:avLst>
          </a:prstGeom>
          <a:solidFill>
            <a:srgbClr val="ECECEC"/>
          </a:solidFill>
          <a:ln>
            <a:noFill/>
          </a:ln>
        </p:spPr>
      </p:pic>
      <p:pic>
        <p:nvPicPr>
          <p:cNvPr id="215" name="Google Shape;215;g3da32cebd10_0_35"/>
          <p:cNvPicPr preferRelativeResize="0"/>
          <p:nvPr/>
        </p:nvPicPr>
        <p:blipFill>
          <a:blip r:embed="rId4">
            <a:alphaModFix/>
          </a:blip>
          <a:stretch>
            <a:fillRect/>
          </a:stretch>
        </p:blipFill>
        <p:spPr>
          <a:xfrm>
            <a:off x="11004389" y="129417"/>
            <a:ext cx="1075787" cy="786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da32cebd10_0_44"/>
          <p:cNvSpPr/>
          <p:nvPr/>
        </p:nvSpPr>
        <p:spPr>
          <a:xfrm>
            <a:off x="0" y="236875"/>
            <a:ext cx="5132350" cy="786250"/>
          </a:xfrm>
          <a:custGeom>
            <a:rect b="b" l="l" r="r" t="t"/>
            <a:pathLst>
              <a:path extrusionOk="0" h="31450" w="205294">
                <a:moveTo>
                  <a:pt x="0" y="0"/>
                </a:moveTo>
                <a:lnTo>
                  <a:pt x="0" y="31426"/>
                </a:lnTo>
                <a:lnTo>
                  <a:pt x="188634" y="31450"/>
                </a:lnTo>
                <a:lnTo>
                  <a:pt x="205294" y="784"/>
                </a:lnTo>
                <a:close/>
              </a:path>
            </a:pathLst>
          </a:custGeom>
          <a:solidFill>
            <a:srgbClr val="6390CE"/>
          </a:solidFill>
          <a:ln>
            <a:noFill/>
          </a:ln>
        </p:spPr>
      </p:sp>
      <p:sp>
        <p:nvSpPr>
          <p:cNvPr id="221" name="Google Shape;221;g3da32cebd10_0_44"/>
          <p:cNvSpPr/>
          <p:nvPr/>
        </p:nvSpPr>
        <p:spPr>
          <a:xfrm>
            <a:off x="723175" y="278700"/>
            <a:ext cx="4325700" cy="673800"/>
          </a:xfrm>
          <a:prstGeom prst="roundRect">
            <a:avLst>
              <a:gd fmla="val 0"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500">
                <a:solidFill>
                  <a:schemeClr val="lt1"/>
                </a:solidFill>
                <a:latin typeface="Open Sans"/>
                <a:ea typeface="Open Sans"/>
                <a:cs typeface="Open Sans"/>
                <a:sym typeface="Open Sans"/>
              </a:rPr>
              <a:t>Portfolio Construction</a:t>
            </a:r>
            <a:endParaRPr b="1" sz="2500">
              <a:solidFill>
                <a:schemeClr val="lt1"/>
              </a:solidFill>
              <a:latin typeface="Open Sans"/>
              <a:ea typeface="Open Sans"/>
              <a:cs typeface="Open Sans"/>
              <a:sym typeface="Open Sans"/>
            </a:endParaRPr>
          </a:p>
        </p:txBody>
      </p:sp>
      <p:pic>
        <p:nvPicPr>
          <p:cNvPr id="222" name="Google Shape;222;g3da32cebd10_0_44"/>
          <p:cNvPicPr preferRelativeResize="0"/>
          <p:nvPr/>
        </p:nvPicPr>
        <p:blipFill rotWithShape="1">
          <a:blip r:embed="rId3">
            <a:alphaModFix/>
          </a:blip>
          <a:srcRect b="0" l="0" r="0" t="0"/>
          <a:stretch/>
        </p:blipFill>
        <p:spPr>
          <a:xfrm>
            <a:off x="559464" y="1325870"/>
            <a:ext cx="11073069" cy="5384901"/>
          </a:xfrm>
          <a:prstGeom prst="rect">
            <a:avLst/>
          </a:prstGeom>
          <a:noFill/>
          <a:ln>
            <a:noFill/>
          </a:ln>
        </p:spPr>
      </p:pic>
      <p:pic>
        <p:nvPicPr>
          <p:cNvPr id="223" name="Google Shape;223;g3da32cebd10_0_44"/>
          <p:cNvPicPr preferRelativeResize="0"/>
          <p:nvPr/>
        </p:nvPicPr>
        <p:blipFill>
          <a:blip r:embed="rId4">
            <a:alphaModFix/>
          </a:blip>
          <a:stretch>
            <a:fillRect/>
          </a:stretch>
        </p:blipFill>
        <p:spPr>
          <a:xfrm>
            <a:off x="11004389" y="129417"/>
            <a:ext cx="1075787" cy="786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da32cebd10_0_53"/>
          <p:cNvSpPr/>
          <p:nvPr/>
        </p:nvSpPr>
        <p:spPr>
          <a:xfrm>
            <a:off x="0" y="236875"/>
            <a:ext cx="7696870" cy="786250"/>
          </a:xfrm>
          <a:custGeom>
            <a:rect b="b" l="l" r="r" t="t"/>
            <a:pathLst>
              <a:path extrusionOk="0" h="31450" w="317364">
                <a:moveTo>
                  <a:pt x="0" y="0"/>
                </a:moveTo>
                <a:lnTo>
                  <a:pt x="0" y="31426"/>
                </a:lnTo>
                <a:lnTo>
                  <a:pt x="297849" y="31450"/>
                </a:lnTo>
                <a:lnTo>
                  <a:pt x="317364" y="784"/>
                </a:lnTo>
                <a:close/>
              </a:path>
            </a:pathLst>
          </a:custGeom>
          <a:solidFill>
            <a:srgbClr val="6390CE"/>
          </a:solidFill>
          <a:ln>
            <a:noFill/>
          </a:ln>
        </p:spPr>
      </p:sp>
      <p:sp>
        <p:nvSpPr>
          <p:cNvPr id="229" name="Google Shape;229;g3da32cebd10_0_53"/>
          <p:cNvSpPr/>
          <p:nvPr/>
        </p:nvSpPr>
        <p:spPr>
          <a:xfrm>
            <a:off x="486212" y="278700"/>
            <a:ext cx="6471000" cy="673800"/>
          </a:xfrm>
          <a:prstGeom prst="roundRect">
            <a:avLst>
              <a:gd fmla="val 0"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500">
                <a:solidFill>
                  <a:schemeClr val="lt1"/>
                </a:solidFill>
                <a:latin typeface="Open Sans"/>
                <a:ea typeface="Open Sans"/>
                <a:cs typeface="Open Sans"/>
                <a:sym typeface="Open Sans"/>
              </a:rPr>
              <a:t>Monitoring Investment Themes Tracker</a:t>
            </a:r>
            <a:endParaRPr b="1" sz="2500">
              <a:solidFill>
                <a:schemeClr val="lt1"/>
              </a:solidFill>
              <a:latin typeface="Open Sans"/>
              <a:ea typeface="Open Sans"/>
              <a:cs typeface="Open Sans"/>
              <a:sym typeface="Open Sans"/>
            </a:endParaRPr>
          </a:p>
        </p:txBody>
      </p:sp>
      <p:pic>
        <p:nvPicPr>
          <p:cNvPr id="230" name="Google Shape;230;g3da32cebd10_0_53"/>
          <p:cNvPicPr preferRelativeResize="0"/>
          <p:nvPr/>
        </p:nvPicPr>
        <p:blipFill rotWithShape="1">
          <a:blip r:embed="rId3">
            <a:alphaModFix/>
          </a:blip>
          <a:srcRect b="0" l="0" r="0" t="0"/>
          <a:stretch/>
        </p:blipFill>
        <p:spPr>
          <a:xfrm>
            <a:off x="1471685" y="1203478"/>
            <a:ext cx="9248629" cy="5468981"/>
          </a:xfrm>
          <a:prstGeom prst="rect">
            <a:avLst/>
          </a:prstGeom>
          <a:noFill/>
          <a:ln>
            <a:noFill/>
          </a:ln>
        </p:spPr>
      </p:pic>
      <p:pic>
        <p:nvPicPr>
          <p:cNvPr id="231" name="Google Shape;231;g3da32cebd10_0_53"/>
          <p:cNvPicPr preferRelativeResize="0"/>
          <p:nvPr/>
        </p:nvPicPr>
        <p:blipFill>
          <a:blip r:embed="rId4">
            <a:alphaModFix/>
          </a:blip>
          <a:stretch>
            <a:fillRect/>
          </a:stretch>
        </p:blipFill>
        <p:spPr>
          <a:xfrm>
            <a:off x="11004389" y="129417"/>
            <a:ext cx="1075787" cy="786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da32cebd10_0_75"/>
          <p:cNvSpPr/>
          <p:nvPr/>
        </p:nvSpPr>
        <p:spPr>
          <a:xfrm>
            <a:off x="0" y="236875"/>
            <a:ext cx="3598114" cy="786250"/>
          </a:xfrm>
          <a:custGeom>
            <a:rect b="b" l="l" r="r" t="t"/>
            <a:pathLst>
              <a:path extrusionOk="0" h="31450" w="317364">
                <a:moveTo>
                  <a:pt x="0" y="0"/>
                </a:moveTo>
                <a:lnTo>
                  <a:pt x="0" y="31426"/>
                </a:lnTo>
                <a:lnTo>
                  <a:pt x="297849" y="31450"/>
                </a:lnTo>
                <a:lnTo>
                  <a:pt x="317364" y="784"/>
                </a:lnTo>
                <a:close/>
              </a:path>
            </a:pathLst>
          </a:custGeom>
          <a:solidFill>
            <a:srgbClr val="6390CE"/>
          </a:solidFill>
          <a:ln>
            <a:noFill/>
          </a:ln>
        </p:spPr>
      </p:sp>
      <p:sp>
        <p:nvSpPr>
          <p:cNvPr id="237" name="Google Shape;237;g3da32cebd10_0_75"/>
          <p:cNvSpPr/>
          <p:nvPr/>
        </p:nvSpPr>
        <p:spPr>
          <a:xfrm>
            <a:off x="486212" y="278700"/>
            <a:ext cx="6471000" cy="673800"/>
          </a:xfrm>
          <a:prstGeom prst="roundRect">
            <a:avLst>
              <a:gd fmla="val 0"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500">
                <a:solidFill>
                  <a:schemeClr val="lt1"/>
                </a:solidFill>
                <a:latin typeface="Open Sans"/>
                <a:ea typeface="Open Sans"/>
                <a:cs typeface="Open Sans"/>
                <a:sym typeface="Open Sans"/>
              </a:rPr>
              <a:t>Monitoring Risk</a:t>
            </a:r>
            <a:endParaRPr b="1" sz="2500">
              <a:solidFill>
                <a:schemeClr val="lt1"/>
              </a:solidFill>
              <a:latin typeface="Open Sans"/>
              <a:ea typeface="Open Sans"/>
              <a:cs typeface="Open Sans"/>
              <a:sym typeface="Open Sans"/>
            </a:endParaRPr>
          </a:p>
        </p:txBody>
      </p:sp>
      <p:pic>
        <p:nvPicPr>
          <p:cNvPr id="238" name="Google Shape;238;g3da32cebd10_0_75"/>
          <p:cNvPicPr preferRelativeResize="0"/>
          <p:nvPr/>
        </p:nvPicPr>
        <p:blipFill>
          <a:blip r:embed="rId3">
            <a:alphaModFix/>
          </a:blip>
          <a:stretch>
            <a:fillRect/>
          </a:stretch>
        </p:blipFill>
        <p:spPr>
          <a:xfrm>
            <a:off x="11004389" y="129417"/>
            <a:ext cx="1075787" cy="786250"/>
          </a:xfrm>
          <a:prstGeom prst="rect">
            <a:avLst/>
          </a:prstGeom>
          <a:noFill/>
          <a:ln>
            <a:noFill/>
          </a:ln>
        </p:spPr>
      </p:pic>
      <p:pic>
        <p:nvPicPr>
          <p:cNvPr id="239" name="Google Shape;239;g3da32cebd10_0_75"/>
          <p:cNvPicPr preferRelativeResize="0"/>
          <p:nvPr/>
        </p:nvPicPr>
        <p:blipFill rotWithShape="1">
          <a:blip r:embed="rId4">
            <a:alphaModFix/>
          </a:blip>
          <a:srcRect b="0" l="0" r="0" t="0"/>
          <a:stretch/>
        </p:blipFill>
        <p:spPr>
          <a:xfrm>
            <a:off x="1786938" y="1166050"/>
            <a:ext cx="8618126" cy="2853046"/>
          </a:xfrm>
          <a:prstGeom prst="rect">
            <a:avLst/>
          </a:prstGeom>
          <a:noFill/>
          <a:ln>
            <a:noFill/>
          </a:ln>
        </p:spPr>
      </p:pic>
      <p:pic>
        <p:nvPicPr>
          <p:cNvPr id="240" name="Google Shape;240;g3da32cebd10_0_75"/>
          <p:cNvPicPr preferRelativeResize="0"/>
          <p:nvPr/>
        </p:nvPicPr>
        <p:blipFill rotWithShape="1">
          <a:blip r:embed="rId5">
            <a:alphaModFix/>
          </a:blip>
          <a:srcRect b="0" l="0" r="0" t="0"/>
          <a:stretch/>
        </p:blipFill>
        <p:spPr>
          <a:xfrm>
            <a:off x="1786938" y="4019096"/>
            <a:ext cx="8618120" cy="2563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da32cebd10_0_84"/>
          <p:cNvSpPr/>
          <p:nvPr/>
        </p:nvSpPr>
        <p:spPr>
          <a:xfrm>
            <a:off x="0" y="236875"/>
            <a:ext cx="8464029" cy="785650"/>
          </a:xfrm>
          <a:custGeom>
            <a:rect b="b" l="l" r="r" t="t"/>
            <a:pathLst>
              <a:path extrusionOk="0" h="31426" w="345224">
                <a:moveTo>
                  <a:pt x="0" y="0"/>
                </a:moveTo>
                <a:lnTo>
                  <a:pt x="0" y="31426"/>
                </a:lnTo>
                <a:lnTo>
                  <a:pt x="327957" y="30892"/>
                </a:lnTo>
                <a:lnTo>
                  <a:pt x="345224" y="784"/>
                </a:lnTo>
                <a:close/>
              </a:path>
            </a:pathLst>
          </a:custGeom>
          <a:solidFill>
            <a:srgbClr val="6390CE"/>
          </a:solidFill>
          <a:ln>
            <a:noFill/>
          </a:ln>
        </p:spPr>
      </p:sp>
      <p:sp>
        <p:nvSpPr>
          <p:cNvPr id="246" name="Google Shape;246;g3da32cebd10_0_84"/>
          <p:cNvSpPr/>
          <p:nvPr/>
        </p:nvSpPr>
        <p:spPr>
          <a:xfrm>
            <a:off x="486200" y="278700"/>
            <a:ext cx="7726800" cy="673800"/>
          </a:xfrm>
          <a:prstGeom prst="roundRect">
            <a:avLst>
              <a:gd fmla="val 0"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500">
                <a:solidFill>
                  <a:schemeClr val="lt1"/>
                </a:solidFill>
                <a:latin typeface="Open Sans"/>
                <a:ea typeface="Open Sans"/>
                <a:cs typeface="Open Sans"/>
                <a:sym typeface="Open Sans"/>
              </a:rPr>
              <a:t>Live Performance </a:t>
            </a:r>
            <a:r>
              <a:rPr b="1" lang="en-US" sz="2000">
                <a:solidFill>
                  <a:schemeClr val="lt1"/>
                </a:solidFill>
                <a:latin typeface="Open Sans"/>
                <a:ea typeface="Open Sans"/>
                <a:cs typeface="Open Sans"/>
                <a:sym typeface="Open Sans"/>
              </a:rPr>
              <a:t>(Phase 1 Legacy Strategy  9 Months)</a:t>
            </a:r>
            <a:endParaRPr b="1" sz="2000">
              <a:solidFill>
                <a:schemeClr val="lt1"/>
              </a:solidFill>
              <a:latin typeface="Open Sans"/>
              <a:ea typeface="Open Sans"/>
              <a:cs typeface="Open Sans"/>
              <a:sym typeface="Open Sans"/>
            </a:endParaRPr>
          </a:p>
        </p:txBody>
      </p:sp>
      <p:pic>
        <p:nvPicPr>
          <p:cNvPr id="247" name="Google Shape;247;g3da32cebd10_0_84"/>
          <p:cNvPicPr preferRelativeResize="0"/>
          <p:nvPr/>
        </p:nvPicPr>
        <p:blipFill>
          <a:blip r:embed="rId3">
            <a:alphaModFix/>
          </a:blip>
          <a:stretch>
            <a:fillRect/>
          </a:stretch>
        </p:blipFill>
        <p:spPr>
          <a:xfrm>
            <a:off x="11004389" y="129417"/>
            <a:ext cx="1075787" cy="786250"/>
          </a:xfrm>
          <a:prstGeom prst="rect">
            <a:avLst/>
          </a:prstGeom>
          <a:noFill/>
          <a:ln>
            <a:noFill/>
          </a:ln>
        </p:spPr>
      </p:pic>
      <p:pic>
        <p:nvPicPr>
          <p:cNvPr id="248" name="Google Shape;248;g3da32cebd10_0_84"/>
          <p:cNvPicPr preferRelativeResize="0"/>
          <p:nvPr/>
        </p:nvPicPr>
        <p:blipFill rotWithShape="1">
          <a:blip r:embed="rId4">
            <a:alphaModFix/>
          </a:blip>
          <a:srcRect b="0" l="0" r="0" t="0"/>
          <a:stretch/>
        </p:blipFill>
        <p:spPr>
          <a:xfrm>
            <a:off x="349450" y="1357650"/>
            <a:ext cx="11493102" cy="5375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g3da32cebd10_0_93" title="freepik__talk__45714.png"/>
          <p:cNvPicPr preferRelativeResize="0"/>
          <p:nvPr/>
        </p:nvPicPr>
        <p:blipFill>
          <a:blip r:embed="rId3">
            <a:alphaModFix/>
          </a:blip>
          <a:stretch>
            <a:fillRect/>
          </a:stretch>
        </p:blipFill>
        <p:spPr>
          <a:xfrm>
            <a:off x="3632162" y="663780"/>
            <a:ext cx="8544000" cy="6083089"/>
          </a:xfrm>
          <a:prstGeom prst="rect">
            <a:avLst/>
          </a:prstGeom>
          <a:noFill/>
          <a:ln>
            <a:noFill/>
          </a:ln>
        </p:spPr>
      </p:pic>
      <p:sp>
        <p:nvSpPr>
          <p:cNvPr id="254" name="Google Shape;254;g3da32cebd10_0_93"/>
          <p:cNvSpPr/>
          <p:nvPr/>
        </p:nvSpPr>
        <p:spPr>
          <a:xfrm>
            <a:off x="324046" y="3796986"/>
            <a:ext cx="3740100" cy="2174400"/>
          </a:xfrm>
          <a:prstGeom prst="rect">
            <a:avLst/>
          </a:prstGeom>
          <a:solidFill>
            <a:srgbClr val="EEF5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g3da32cebd10_0_93"/>
          <p:cNvSpPr/>
          <p:nvPr/>
        </p:nvSpPr>
        <p:spPr>
          <a:xfrm>
            <a:off x="0" y="236875"/>
            <a:ext cx="4128885" cy="800200"/>
          </a:xfrm>
          <a:custGeom>
            <a:rect b="b" l="l" r="r" t="t"/>
            <a:pathLst>
              <a:path extrusionOk="0" h="32008" w="161806">
                <a:moveTo>
                  <a:pt x="0" y="0"/>
                </a:moveTo>
                <a:lnTo>
                  <a:pt x="0" y="31426"/>
                </a:lnTo>
                <a:lnTo>
                  <a:pt x="145635" y="32008"/>
                </a:lnTo>
                <a:lnTo>
                  <a:pt x="161806" y="784"/>
                </a:lnTo>
                <a:close/>
              </a:path>
            </a:pathLst>
          </a:custGeom>
          <a:solidFill>
            <a:srgbClr val="6390CE"/>
          </a:solidFill>
          <a:ln>
            <a:noFill/>
          </a:ln>
        </p:spPr>
      </p:sp>
      <p:sp>
        <p:nvSpPr>
          <p:cNvPr id="256" name="Google Shape;256;g3da32cebd10_0_93"/>
          <p:cNvSpPr/>
          <p:nvPr/>
        </p:nvSpPr>
        <p:spPr>
          <a:xfrm>
            <a:off x="486200" y="278700"/>
            <a:ext cx="3043200" cy="673800"/>
          </a:xfrm>
          <a:prstGeom prst="roundRect">
            <a:avLst>
              <a:gd fmla="val 0"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500">
                <a:solidFill>
                  <a:schemeClr val="lt1"/>
                </a:solidFill>
                <a:latin typeface="Open Sans"/>
                <a:ea typeface="Open Sans"/>
                <a:cs typeface="Open Sans"/>
                <a:sym typeface="Open Sans"/>
              </a:rPr>
              <a:t>Phased Upgrades</a:t>
            </a:r>
            <a:endParaRPr b="1" sz="2500">
              <a:solidFill>
                <a:schemeClr val="lt1"/>
              </a:solidFill>
              <a:latin typeface="Open Sans"/>
              <a:ea typeface="Open Sans"/>
              <a:cs typeface="Open Sans"/>
              <a:sym typeface="Open Sans"/>
            </a:endParaRPr>
          </a:p>
        </p:txBody>
      </p:sp>
      <p:pic>
        <p:nvPicPr>
          <p:cNvPr id="257" name="Google Shape;257;g3da32cebd10_0_93"/>
          <p:cNvPicPr preferRelativeResize="0"/>
          <p:nvPr/>
        </p:nvPicPr>
        <p:blipFill>
          <a:blip r:embed="rId4">
            <a:alphaModFix/>
          </a:blip>
          <a:stretch>
            <a:fillRect/>
          </a:stretch>
        </p:blipFill>
        <p:spPr>
          <a:xfrm>
            <a:off x="11004389" y="129417"/>
            <a:ext cx="1075787" cy="786250"/>
          </a:xfrm>
          <a:prstGeom prst="rect">
            <a:avLst/>
          </a:prstGeom>
          <a:noFill/>
          <a:ln>
            <a:noFill/>
          </a:ln>
        </p:spPr>
      </p:pic>
      <p:sp>
        <p:nvSpPr>
          <p:cNvPr id="258" name="Google Shape;258;g3da32cebd10_0_93"/>
          <p:cNvSpPr txBox="1"/>
          <p:nvPr/>
        </p:nvSpPr>
        <p:spPr>
          <a:xfrm>
            <a:off x="7610509" y="261732"/>
            <a:ext cx="11064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a:solidFill>
                  <a:schemeClr val="dk1"/>
                </a:solidFill>
                <a:latin typeface="Open Sans"/>
                <a:ea typeface="Open Sans"/>
                <a:cs typeface="Open Sans"/>
                <a:sym typeface="Open Sans"/>
              </a:rPr>
              <a:t>Phase 2</a:t>
            </a:r>
            <a:endParaRPr b="1">
              <a:solidFill>
                <a:schemeClr val="dk1"/>
              </a:solidFill>
              <a:latin typeface="Open Sans"/>
              <a:ea typeface="Open Sans"/>
              <a:cs typeface="Open Sans"/>
              <a:sym typeface="Open Sans"/>
            </a:endParaRPr>
          </a:p>
        </p:txBody>
      </p:sp>
      <p:sp>
        <p:nvSpPr>
          <p:cNvPr id="259" name="Google Shape;259;g3da32cebd10_0_93"/>
          <p:cNvSpPr txBox="1"/>
          <p:nvPr/>
        </p:nvSpPr>
        <p:spPr>
          <a:xfrm>
            <a:off x="458966" y="3989539"/>
            <a:ext cx="3740100" cy="1693200"/>
          </a:xfrm>
          <a:prstGeom prst="rect">
            <a:avLst/>
          </a:prstGeom>
          <a:noFill/>
          <a:ln>
            <a:noFill/>
          </a:ln>
        </p:spPr>
        <p:txBody>
          <a:bodyPr anchorCtr="0" anchor="t" bIns="45700" lIns="91425" spcFirstLastPara="1" rIns="91425" wrap="square" tIns="45700">
            <a:spAutoFit/>
          </a:bodyPr>
          <a:lstStyle/>
          <a:p>
            <a:pPr indent="-298450" lvl="0" marL="285750" marR="0" rtl="0" algn="l">
              <a:spcBef>
                <a:spcPts val="0"/>
              </a:spcBef>
              <a:spcAft>
                <a:spcPts val="0"/>
              </a:spcAft>
              <a:buClr>
                <a:schemeClr val="dk1"/>
              </a:buClr>
              <a:buSzPts val="2000"/>
              <a:buFont typeface="Open Sans"/>
              <a:buChar char="•"/>
            </a:pPr>
            <a:r>
              <a:rPr lang="en-US" sz="1600">
                <a:solidFill>
                  <a:schemeClr val="dk1"/>
                </a:solidFill>
                <a:latin typeface="Open Sans"/>
                <a:ea typeface="Open Sans"/>
                <a:cs typeface="Open Sans"/>
                <a:sym typeface="Open Sans"/>
              </a:rPr>
              <a:t>Upgrades based on further insights and live testing </a:t>
            </a:r>
            <a:endParaRPr sz="1600">
              <a:latin typeface="Open Sans"/>
              <a:ea typeface="Open Sans"/>
              <a:cs typeface="Open Sans"/>
              <a:sym typeface="Open Sans"/>
            </a:endParaRPr>
          </a:p>
          <a:p>
            <a:pPr indent="-171450" lvl="0" marL="285750" marR="0" rtl="0" algn="l">
              <a:spcBef>
                <a:spcPts val="0"/>
              </a:spcBef>
              <a:spcAft>
                <a:spcPts val="0"/>
              </a:spcAft>
              <a:buClr>
                <a:schemeClr val="dk1"/>
              </a:buClr>
              <a:buSzPts val="1800"/>
              <a:buFont typeface="Arial"/>
              <a:buNone/>
            </a:pPr>
            <a:r>
              <a:t/>
            </a:r>
            <a:endParaRPr sz="1600">
              <a:solidFill>
                <a:schemeClr val="dk1"/>
              </a:solidFill>
              <a:latin typeface="Open Sans"/>
              <a:ea typeface="Open Sans"/>
              <a:cs typeface="Open Sans"/>
              <a:sym typeface="Open Sans"/>
            </a:endParaRPr>
          </a:p>
          <a:p>
            <a:pPr indent="-298450" lvl="0" marL="285750" marR="0" rtl="0" algn="l">
              <a:spcBef>
                <a:spcPts val="0"/>
              </a:spcBef>
              <a:spcAft>
                <a:spcPts val="0"/>
              </a:spcAft>
              <a:buClr>
                <a:schemeClr val="dk1"/>
              </a:buClr>
              <a:buSzPts val="2000"/>
              <a:buFont typeface="Open Sans"/>
              <a:buChar char="•"/>
            </a:pPr>
            <a:r>
              <a:rPr lang="en-US" sz="1600">
                <a:solidFill>
                  <a:schemeClr val="dk1"/>
                </a:solidFill>
                <a:latin typeface="Open Sans"/>
                <a:ea typeface="Open Sans"/>
                <a:cs typeface="Open Sans"/>
                <a:sym typeface="Open Sans"/>
              </a:rPr>
              <a:t>Improvements in risk-adjusted returns, especially Sortnio and Expectancy </a:t>
            </a:r>
            <a:endParaRPr sz="1600">
              <a:solidFill>
                <a:schemeClr val="dk1"/>
              </a:solidFill>
              <a:latin typeface="Open Sans"/>
              <a:ea typeface="Open Sans"/>
              <a:cs typeface="Open Sans"/>
              <a:sym typeface="Open Sans"/>
            </a:endParaRPr>
          </a:p>
        </p:txBody>
      </p:sp>
      <p:cxnSp>
        <p:nvCxnSpPr>
          <p:cNvPr id="260" name="Google Shape;260;g3da32cebd10_0_93"/>
          <p:cNvCxnSpPr/>
          <p:nvPr/>
        </p:nvCxnSpPr>
        <p:spPr>
          <a:xfrm>
            <a:off x="4739454" y="2103229"/>
            <a:ext cx="693300" cy="338400"/>
          </a:xfrm>
          <a:prstGeom prst="bentConnector3">
            <a:avLst>
              <a:gd fmla="val 50000" name="adj1"/>
            </a:avLst>
          </a:prstGeom>
          <a:noFill/>
          <a:ln cap="flat" cmpd="sng" w="19050">
            <a:solidFill>
              <a:schemeClr val="accent1"/>
            </a:solidFill>
            <a:prstDash val="solid"/>
            <a:miter lim="800000"/>
            <a:headEnd len="sm" w="sm" type="none"/>
            <a:tailEnd len="med" w="med" type="triangle"/>
          </a:ln>
        </p:spPr>
      </p:cxnSp>
      <p:cxnSp>
        <p:nvCxnSpPr>
          <p:cNvPr id="261" name="Google Shape;261;g3da32cebd10_0_93"/>
          <p:cNvCxnSpPr/>
          <p:nvPr/>
        </p:nvCxnSpPr>
        <p:spPr>
          <a:xfrm flipH="1" rot="10800000">
            <a:off x="4739454" y="2441593"/>
            <a:ext cx="462300" cy="402300"/>
          </a:xfrm>
          <a:prstGeom prst="bentConnector3">
            <a:avLst>
              <a:gd fmla="val 75712" name="adj1"/>
            </a:avLst>
          </a:prstGeom>
          <a:noFill/>
          <a:ln cap="flat" cmpd="sng" w="19050">
            <a:solidFill>
              <a:schemeClr val="accent1"/>
            </a:solidFill>
            <a:prstDash val="solid"/>
            <a:miter lim="800000"/>
            <a:headEnd len="sm" w="sm" type="none"/>
            <a:tailEnd len="sm" w="sm" type="none"/>
          </a:ln>
        </p:spPr>
      </p:cxnSp>
      <p:sp>
        <p:nvSpPr>
          <p:cNvPr id="262" name="Google Shape;262;g3da32cebd10_0_93"/>
          <p:cNvSpPr/>
          <p:nvPr/>
        </p:nvSpPr>
        <p:spPr>
          <a:xfrm>
            <a:off x="5426915" y="2272395"/>
            <a:ext cx="1106400" cy="33840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chemeClr val="lt1"/>
                </a:solidFill>
                <a:latin typeface="Open Sans Medium"/>
                <a:ea typeface="Open Sans Medium"/>
                <a:cs typeface="Open Sans Medium"/>
                <a:sym typeface="Open Sans Medium"/>
              </a:rPr>
              <a:t>Integration</a:t>
            </a:r>
            <a:endParaRPr sz="1100">
              <a:solidFill>
                <a:schemeClr val="lt1"/>
              </a:solidFill>
              <a:latin typeface="Open Sans Medium"/>
              <a:ea typeface="Open Sans Medium"/>
              <a:cs typeface="Open Sans Medium"/>
              <a:sym typeface="Open Sans Medium"/>
            </a:endParaRPr>
          </a:p>
        </p:txBody>
      </p:sp>
      <p:sp>
        <p:nvSpPr>
          <p:cNvPr id="263" name="Google Shape;263;g3da32cebd10_0_93"/>
          <p:cNvSpPr txBox="1"/>
          <p:nvPr/>
        </p:nvSpPr>
        <p:spPr>
          <a:xfrm>
            <a:off x="5397734" y="1904949"/>
            <a:ext cx="9771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Open Sans Medium"/>
                <a:ea typeface="Open Sans Medium"/>
                <a:cs typeface="Open Sans Medium"/>
                <a:sym typeface="Open Sans Medium"/>
              </a:rPr>
              <a:t>Phase 4</a:t>
            </a:r>
            <a:endParaRPr sz="1100">
              <a:solidFill>
                <a:schemeClr val="dk1"/>
              </a:solidFill>
              <a:latin typeface="Open Sans Medium"/>
              <a:ea typeface="Open Sans Medium"/>
              <a:cs typeface="Open Sans Medium"/>
              <a:sym typeface="Open Sans Medium"/>
            </a:endParaRPr>
          </a:p>
        </p:txBody>
      </p:sp>
      <p:pic>
        <p:nvPicPr>
          <p:cNvPr id="264" name="Google Shape;264;g3da32cebd10_0_93"/>
          <p:cNvPicPr preferRelativeResize="0"/>
          <p:nvPr/>
        </p:nvPicPr>
        <p:blipFill rotWithShape="1">
          <a:blip r:embed="rId5">
            <a:alphaModFix/>
          </a:blip>
          <a:srcRect b="0" l="0" r="0" t="0"/>
          <a:stretch/>
        </p:blipFill>
        <p:spPr>
          <a:xfrm>
            <a:off x="282870" y="1441181"/>
            <a:ext cx="4577674" cy="1754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3da32cebd10_0_110"/>
          <p:cNvSpPr/>
          <p:nvPr/>
        </p:nvSpPr>
        <p:spPr>
          <a:xfrm>
            <a:off x="0" y="236875"/>
            <a:ext cx="4128885" cy="800200"/>
          </a:xfrm>
          <a:custGeom>
            <a:rect b="b" l="l" r="r" t="t"/>
            <a:pathLst>
              <a:path extrusionOk="0" h="32008" w="161806">
                <a:moveTo>
                  <a:pt x="0" y="0"/>
                </a:moveTo>
                <a:lnTo>
                  <a:pt x="0" y="31426"/>
                </a:lnTo>
                <a:lnTo>
                  <a:pt x="145635" y="32008"/>
                </a:lnTo>
                <a:lnTo>
                  <a:pt x="161806" y="784"/>
                </a:lnTo>
                <a:close/>
              </a:path>
            </a:pathLst>
          </a:custGeom>
          <a:solidFill>
            <a:srgbClr val="6390CE"/>
          </a:solidFill>
          <a:ln>
            <a:noFill/>
          </a:ln>
        </p:spPr>
      </p:sp>
      <p:sp>
        <p:nvSpPr>
          <p:cNvPr id="270" name="Google Shape;270;g3da32cebd10_0_110"/>
          <p:cNvSpPr/>
          <p:nvPr/>
        </p:nvSpPr>
        <p:spPr>
          <a:xfrm>
            <a:off x="486200" y="278700"/>
            <a:ext cx="3921300" cy="673800"/>
          </a:xfrm>
          <a:prstGeom prst="roundRect">
            <a:avLst>
              <a:gd fmla="val 0"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500">
                <a:solidFill>
                  <a:schemeClr val="lt1"/>
                </a:solidFill>
                <a:latin typeface="Open Sans"/>
                <a:ea typeface="Open Sans"/>
                <a:cs typeface="Open Sans"/>
                <a:sym typeface="Open Sans"/>
              </a:rPr>
              <a:t>Phase 3 </a:t>
            </a:r>
            <a:r>
              <a:rPr b="1" lang="en-US" sz="2000">
                <a:solidFill>
                  <a:schemeClr val="lt1"/>
                </a:solidFill>
                <a:latin typeface="Open Sans"/>
                <a:ea typeface="Open Sans"/>
                <a:cs typeface="Open Sans"/>
                <a:sym typeface="Open Sans"/>
              </a:rPr>
              <a:t>(Diversified)</a:t>
            </a:r>
            <a:endParaRPr b="1" sz="2000">
              <a:solidFill>
                <a:schemeClr val="lt1"/>
              </a:solidFill>
              <a:latin typeface="Open Sans"/>
              <a:ea typeface="Open Sans"/>
              <a:cs typeface="Open Sans"/>
              <a:sym typeface="Open Sans"/>
            </a:endParaRPr>
          </a:p>
        </p:txBody>
      </p:sp>
      <p:pic>
        <p:nvPicPr>
          <p:cNvPr id="271" name="Google Shape;271;g3da32cebd10_0_110"/>
          <p:cNvPicPr preferRelativeResize="0"/>
          <p:nvPr/>
        </p:nvPicPr>
        <p:blipFill>
          <a:blip r:embed="rId3">
            <a:alphaModFix/>
          </a:blip>
          <a:stretch>
            <a:fillRect/>
          </a:stretch>
        </p:blipFill>
        <p:spPr>
          <a:xfrm>
            <a:off x="11004389" y="129417"/>
            <a:ext cx="1075787" cy="786250"/>
          </a:xfrm>
          <a:prstGeom prst="rect">
            <a:avLst/>
          </a:prstGeom>
          <a:noFill/>
          <a:ln>
            <a:noFill/>
          </a:ln>
        </p:spPr>
      </p:pic>
      <p:pic>
        <p:nvPicPr>
          <p:cNvPr id="272" name="Google Shape;272;g3da32cebd10_0_110"/>
          <p:cNvPicPr preferRelativeResize="0"/>
          <p:nvPr/>
        </p:nvPicPr>
        <p:blipFill rotWithShape="1">
          <a:blip r:embed="rId4">
            <a:alphaModFix/>
          </a:blip>
          <a:srcRect b="0" l="0" r="0" t="0"/>
          <a:stretch/>
        </p:blipFill>
        <p:spPr>
          <a:xfrm>
            <a:off x="5192013" y="1897709"/>
            <a:ext cx="6776650" cy="2074050"/>
          </a:xfrm>
          <a:prstGeom prst="rect">
            <a:avLst/>
          </a:prstGeom>
          <a:noFill/>
          <a:ln>
            <a:noFill/>
          </a:ln>
        </p:spPr>
      </p:pic>
      <p:graphicFrame>
        <p:nvGraphicFramePr>
          <p:cNvPr id="273" name="Google Shape;273;g3da32cebd10_0_110"/>
          <p:cNvGraphicFramePr/>
          <p:nvPr/>
        </p:nvGraphicFramePr>
        <p:xfrm>
          <a:off x="7620780" y="1952460"/>
          <a:ext cx="3000000" cy="3000000"/>
        </p:xfrm>
        <a:graphic>
          <a:graphicData uri="http://schemas.openxmlformats.org/drawingml/2006/table">
            <a:tbl>
              <a:tblPr bandRow="1" firstRow="1">
                <a:noFill/>
                <a:tableStyleId>{3D3993AC-A8BA-486E-BD13-A86FE0C0E203}</a:tableStyleId>
              </a:tblPr>
              <a:tblGrid>
                <a:gridCol w="661650"/>
                <a:gridCol w="661650"/>
                <a:gridCol w="661650"/>
                <a:gridCol w="661650"/>
              </a:tblGrid>
              <a:tr h="155275">
                <a:tc gridSpan="4">
                  <a:txBody>
                    <a:bodyPr/>
                    <a:lstStyle/>
                    <a:p>
                      <a:pPr indent="0" lvl="0" marL="0" marR="0" rtl="0" algn="ctr">
                        <a:spcBef>
                          <a:spcPts val="0"/>
                        </a:spcBef>
                        <a:spcAft>
                          <a:spcPts val="0"/>
                        </a:spcAft>
                        <a:buNone/>
                      </a:pPr>
                      <a:r>
                        <a:rPr lang="en-US" sz="800" u="none" cap="none" strike="noStrike"/>
                        <a:t>Event-based backtest (Jan 2012 -  Jan 2026)</a:t>
                      </a:r>
                      <a:endParaRPr sz="800" u="none" cap="none" strike="noStrike"/>
                    </a:p>
                  </a:txBody>
                  <a:tcPr marT="45725" marB="45725" marR="91450" marL="91450" anchor="ctr"/>
                </a:tc>
                <a:tc hMerge="1"/>
                <a:tc hMerge="1"/>
                <a:tc hMerge="1"/>
              </a:tr>
              <a:tr h="155275">
                <a:tc>
                  <a:txBody>
                    <a:bodyPr/>
                    <a:lstStyle/>
                    <a:p>
                      <a:pPr indent="0" lvl="0" marL="0" marR="0" rtl="0" algn="ctr">
                        <a:spcBef>
                          <a:spcPts val="0"/>
                        </a:spcBef>
                        <a:spcAft>
                          <a:spcPts val="0"/>
                        </a:spcAft>
                        <a:buNone/>
                      </a:pPr>
                      <a:r>
                        <a:rPr lang="en-US" sz="800" u="none" cap="none" strike="noStrike"/>
                        <a:t>CAGR</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40%</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Max DD</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14.9%</a:t>
                      </a:r>
                      <a:endParaRPr sz="800" u="none" cap="none" strike="noStrike"/>
                    </a:p>
                  </a:txBody>
                  <a:tcPr marT="45725" marB="45725" marR="91450" marL="91450" anchor="ctr"/>
                </a:tc>
              </a:tr>
              <a:tr h="155275">
                <a:tc>
                  <a:txBody>
                    <a:bodyPr/>
                    <a:lstStyle/>
                    <a:p>
                      <a:pPr indent="0" lvl="0" marL="0" marR="0" rtl="0" algn="ctr">
                        <a:spcBef>
                          <a:spcPts val="0"/>
                        </a:spcBef>
                        <a:spcAft>
                          <a:spcPts val="0"/>
                        </a:spcAft>
                        <a:buNone/>
                      </a:pPr>
                      <a:r>
                        <a:rPr lang="en-US" sz="800" u="none" cap="none" strike="noStrike"/>
                        <a:t>Sharpe</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2</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Sortino</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2.5</a:t>
                      </a:r>
                      <a:endParaRPr/>
                    </a:p>
                  </a:txBody>
                  <a:tcPr marT="45725" marB="45725" marR="91450" marL="91450" anchor="ctr"/>
                </a:tc>
              </a:tr>
              <a:tr h="222400">
                <a:tc>
                  <a:txBody>
                    <a:bodyPr/>
                    <a:lstStyle/>
                    <a:p>
                      <a:pPr indent="0" lvl="0" marL="0" marR="0" rtl="0" algn="ctr">
                        <a:spcBef>
                          <a:spcPts val="0"/>
                        </a:spcBef>
                        <a:spcAft>
                          <a:spcPts val="0"/>
                        </a:spcAft>
                        <a:buNone/>
                      </a:pPr>
                      <a:r>
                        <a:rPr lang="en-US" sz="800" u="none" cap="none" strike="noStrike"/>
                        <a:t>Turnover</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7%</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Expectancy</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0.9</a:t>
                      </a:r>
                      <a:endParaRPr sz="800" u="none" cap="none" strike="noStrike"/>
                    </a:p>
                  </a:txBody>
                  <a:tcPr marT="45725" marB="45725" marR="91450" marL="91450" anchor="ctr"/>
                </a:tc>
              </a:tr>
              <a:tr h="222400">
                <a:tc>
                  <a:txBody>
                    <a:bodyPr/>
                    <a:lstStyle/>
                    <a:p>
                      <a:pPr indent="0" lvl="0" marL="0" marR="0" rtl="0" algn="ctr">
                        <a:spcBef>
                          <a:spcPts val="0"/>
                        </a:spcBef>
                        <a:spcAft>
                          <a:spcPts val="0"/>
                        </a:spcAft>
                        <a:buNone/>
                      </a:pPr>
                      <a:r>
                        <a:rPr lang="en-US" sz="800" u="none" cap="none" strike="noStrike"/>
                        <a:t>Win rate</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75%</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Profit-Loss ratio</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1.5</a:t>
                      </a:r>
                      <a:endParaRPr sz="800" u="none" cap="none" strike="noStrike"/>
                    </a:p>
                  </a:txBody>
                  <a:tcPr marT="45725" marB="45725" marR="91450" marL="91450" anchor="ctr"/>
                </a:tc>
              </a:tr>
            </a:tbl>
          </a:graphicData>
        </a:graphic>
      </p:graphicFrame>
      <p:sp>
        <p:nvSpPr>
          <p:cNvPr id="274" name="Google Shape;274;g3da32cebd10_0_110"/>
          <p:cNvSpPr txBox="1"/>
          <p:nvPr/>
        </p:nvSpPr>
        <p:spPr>
          <a:xfrm>
            <a:off x="1973097" y="1235667"/>
            <a:ext cx="15453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US" sz="1600">
                <a:solidFill>
                  <a:schemeClr val="dk1"/>
                </a:solidFill>
                <a:latin typeface="Open Sans"/>
                <a:ea typeface="Open Sans"/>
                <a:cs typeface="Open Sans"/>
                <a:sym typeface="Open Sans"/>
              </a:rPr>
              <a:t>Live</a:t>
            </a:r>
            <a:r>
              <a:rPr b="1" lang="en-US" sz="1800" u="sng">
                <a:solidFill>
                  <a:schemeClr val="dk1"/>
                </a:solidFill>
                <a:latin typeface="Arial"/>
                <a:ea typeface="Arial"/>
                <a:cs typeface="Arial"/>
                <a:sym typeface="Arial"/>
              </a:rPr>
              <a:t> </a:t>
            </a:r>
            <a:endParaRPr b="1" sz="1800" u="sng">
              <a:solidFill>
                <a:schemeClr val="dk1"/>
              </a:solidFill>
              <a:latin typeface="Arial"/>
              <a:ea typeface="Arial"/>
              <a:cs typeface="Arial"/>
              <a:sym typeface="Arial"/>
            </a:endParaRPr>
          </a:p>
        </p:txBody>
      </p:sp>
      <p:sp>
        <p:nvSpPr>
          <p:cNvPr id="275" name="Google Shape;275;g3da32cebd10_0_110"/>
          <p:cNvSpPr txBox="1"/>
          <p:nvPr/>
        </p:nvSpPr>
        <p:spPr>
          <a:xfrm>
            <a:off x="7807680" y="1250967"/>
            <a:ext cx="15453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Open Sans"/>
                <a:ea typeface="Open Sans"/>
                <a:cs typeface="Open Sans"/>
                <a:sym typeface="Open Sans"/>
              </a:rPr>
              <a:t>Backtest</a:t>
            </a:r>
            <a:endParaRPr b="1" sz="1800" u="sng">
              <a:solidFill>
                <a:schemeClr val="dk1"/>
              </a:solidFill>
              <a:latin typeface="Arial"/>
              <a:ea typeface="Arial"/>
              <a:cs typeface="Arial"/>
              <a:sym typeface="Arial"/>
            </a:endParaRPr>
          </a:p>
        </p:txBody>
      </p:sp>
      <p:pic>
        <p:nvPicPr>
          <p:cNvPr id="276" name="Google Shape;276;g3da32cebd10_0_110"/>
          <p:cNvPicPr preferRelativeResize="0"/>
          <p:nvPr/>
        </p:nvPicPr>
        <p:blipFill rotWithShape="1">
          <a:blip r:embed="rId5">
            <a:alphaModFix/>
          </a:blip>
          <a:srcRect b="0" l="0" r="0" t="0"/>
          <a:stretch/>
        </p:blipFill>
        <p:spPr>
          <a:xfrm>
            <a:off x="313442" y="4350425"/>
            <a:ext cx="4864609" cy="2419687"/>
          </a:xfrm>
          <a:prstGeom prst="rect">
            <a:avLst/>
          </a:prstGeom>
          <a:noFill/>
          <a:ln>
            <a:noFill/>
          </a:ln>
        </p:spPr>
      </p:pic>
      <p:pic>
        <p:nvPicPr>
          <p:cNvPr id="277" name="Google Shape;277;g3da32cebd10_0_110"/>
          <p:cNvPicPr preferRelativeResize="0"/>
          <p:nvPr/>
        </p:nvPicPr>
        <p:blipFill rotWithShape="1">
          <a:blip r:embed="rId6">
            <a:alphaModFix/>
          </a:blip>
          <a:srcRect b="0" l="0" r="0" t="0"/>
          <a:stretch/>
        </p:blipFill>
        <p:spPr>
          <a:xfrm>
            <a:off x="5585688" y="4261105"/>
            <a:ext cx="3122767" cy="2596896"/>
          </a:xfrm>
          <a:prstGeom prst="rect">
            <a:avLst/>
          </a:prstGeom>
          <a:noFill/>
          <a:ln>
            <a:noFill/>
          </a:ln>
        </p:spPr>
      </p:pic>
      <p:pic>
        <p:nvPicPr>
          <p:cNvPr id="278" name="Google Shape;278;g3da32cebd10_0_110"/>
          <p:cNvPicPr preferRelativeResize="0"/>
          <p:nvPr/>
        </p:nvPicPr>
        <p:blipFill rotWithShape="1">
          <a:blip r:embed="rId7">
            <a:alphaModFix/>
          </a:blip>
          <a:srcRect b="0" l="0" r="0" t="0"/>
          <a:stretch/>
        </p:blipFill>
        <p:spPr>
          <a:xfrm>
            <a:off x="9187612" y="4798162"/>
            <a:ext cx="1914792" cy="1971950"/>
          </a:xfrm>
          <a:prstGeom prst="rect">
            <a:avLst/>
          </a:prstGeom>
          <a:noFill/>
          <a:ln>
            <a:noFill/>
          </a:ln>
        </p:spPr>
      </p:pic>
      <p:pic>
        <p:nvPicPr>
          <p:cNvPr id="279" name="Google Shape;279;g3da32cebd10_0_110"/>
          <p:cNvPicPr preferRelativeResize="0"/>
          <p:nvPr/>
        </p:nvPicPr>
        <p:blipFill rotWithShape="1">
          <a:blip r:embed="rId8">
            <a:alphaModFix/>
          </a:blip>
          <a:srcRect b="0" l="0" r="0" t="0"/>
          <a:stretch/>
        </p:blipFill>
        <p:spPr>
          <a:xfrm>
            <a:off x="8978475" y="4261105"/>
            <a:ext cx="1476581" cy="266737"/>
          </a:xfrm>
          <a:prstGeom prst="rect">
            <a:avLst/>
          </a:prstGeom>
          <a:noFill/>
          <a:ln>
            <a:noFill/>
          </a:ln>
        </p:spPr>
      </p:pic>
      <p:pic>
        <p:nvPicPr>
          <p:cNvPr id="280" name="Google Shape;280;g3da32cebd10_0_110"/>
          <p:cNvPicPr preferRelativeResize="0"/>
          <p:nvPr/>
        </p:nvPicPr>
        <p:blipFill rotWithShape="1">
          <a:blip r:embed="rId9">
            <a:alphaModFix/>
          </a:blip>
          <a:srcRect b="0" l="0" r="0" t="0"/>
          <a:stretch/>
        </p:blipFill>
        <p:spPr>
          <a:xfrm>
            <a:off x="340874" y="1814084"/>
            <a:ext cx="4809746" cy="241968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3da32cebd10_0_134"/>
          <p:cNvSpPr/>
          <p:nvPr/>
        </p:nvSpPr>
        <p:spPr>
          <a:xfrm>
            <a:off x="0" y="236875"/>
            <a:ext cx="4407595" cy="800200"/>
          </a:xfrm>
          <a:custGeom>
            <a:rect b="b" l="l" r="r" t="t"/>
            <a:pathLst>
              <a:path extrusionOk="0" h="32008" w="161806">
                <a:moveTo>
                  <a:pt x="0" y="0"/>
                </a:moveTo>
                <a:lnTo>
                  <a:pt x="0" y="31426"/>
                </a:lnTo>
                <a:lnTo>
                  <a:pt x="145635" y="32008"/>
                </a:lnTo>
                <a:lnTo>
                  <a:pt x="161806" y="784"/>
                </a:lnTo>
                <a:close/>
              </a:path>
            </a:pathLst>
          </a:custGeom>
          <a:solidFill>
            <a:srgbClr val="6390CE"/>
          </a:solidFill>
          <a:ln>
            <a:noFill/>
          </a:ln>
        </p:spPr>
      </p:sp>
      <p:sp>
        <p:nvSpPr>
          <p:cNvPr id="286" name="Google Shape;286;g3da32cebd10_0_134"/>
          <p:cNvSpPr/>
          <p:nvPr/>
        </p:nvSpPr>
        <p:spPr>
          <a:xfrm>
            <a:off x="486200" y="278700"/>
            <a:ext cx="3921300" cy="673800"/>
          </a:xfrm>
          <a:prstGeom prst="roundRect">
            <a:avLst>
              <a:gd fmla="val 0"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500">
                <a:solidFill>
                  <a:schemeClr val="lt1"/>
                </a:solidFill>
                <a:latin typeface="Open Sans"/>
                <a:ea typeface="Open Sans"/>
                <a:cs typeface="Open Sans"/>
                <a:sym typeface="Open Sans"/>
              </a:rPr>
              <a:t>Phase 3 </a:t>
            </a:r>
            <a:r>
              <a:rPr b="1" lang="en-US" sz="2000">
                <a:solidFill>
                  <a:schemeClr val="lt1"/>
                </a:solidFill>
                <a:latin typeface="Open Sans"/>
                <a:ea typeface="Open Sans"/>
                <a:cs typeface="Open Sans"/>
                <a:sym typeface="Open Sans"/>
              </a:rPr>
              <a:t>(</a:t>
            </a:r>
            <a:r>
              <a:rPr b="1" lang="en-US" sz="2000">
                <a:solidFill>
                  <a:schemeClr val="lt1"/>
                </a:solidFill>
                <a:latin typeface="Open Sans"/>
                <a:ea typeface="Open Sans"/>
                <a:cs typeface="Open Sans"/>
                <a:sym typeface="Open Sans"/>
              </a:rPr>
              <a:t>Concentrated</a:t>
            </a:r>
            <a:r>
              <a:rPr b="1" lang="en-US" sz="2000">
                <a:solidFill>
                  <a:schemeClr val="lt1"/>
                </a:solidFill>
                <a:latin typeface="Open Sans"/>
                <a:ea typeface="Open Sans"/>
                <a:cs typeface="Open Sans"/>
                <a:sym typeface="Open Sans"/>
              </a:rPr>
              <a:t>)</a:t>
            </a:r>
            <a:endParaRPr b="1" sz="2000">
              <a:solidFill>
                <a:schemeClr val="lt1"/>
              </a:solidFill>
              <a:latin typeface="Open Sans"/>
              <a:ea typeface="Open Sans"/>
              <a:cs typeface="Open Sans"/>
              <a:sym typeface="Open Sans"/>
            </a:endParaRPr>
          </a:p>
        </p:txBody>
      </p:sp>
      <p:pic>
        <p:nvPicPr>
          <p:cNvPr id="287" name="Google Shape;287;g3da32cebd10_0_134"/>
          <p:cNvPicPr preferRelativeResize="0"/>
          <p:nvPr/>
        </p:nvPicPr>
        <p:blipFill>
          <a:blip r:embed="rId3">
            <a:alphaModFix/>
          </a:blip>
          <a:stretch>
            <a:fillRect/>
          </a:stretch>
        </p:blipFill>
        <p:spPr>
          <a:xfrm>
            <a:off x="11004389" y="129417"/>
            <a:ext cx="1075787" cy="786250"/>
          </a:xfrm>
          <a:prstGeom prst="rect">
            <a:avLst/>
          </a:prstGeom>
          <a:noFill/>
          <a:ln>
            <a:noFill/>
          </a:ln>
        </p:spPr>
      </p:pic>
      <p:sp>
        <p:nvSpPr>
          <p:cNvPr id="288" name="Google Shape;288;g3da32cebd10_0_134"/>
          <p:cNvSpPr txBox="1"/>
          <p:nvPr/>
        </p:nvSpPr>
        <p:spPr>
          <a:xfrm>
            <a:off x="1973097" y="1235667"/>
            <a:ext cx="15453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US" sz="1600">
                <a:solidFill>
                  <a:schemeClr val="dk1"/>
                </a:solidFill>
                <a:latin typeface="Open Sans"/>
                <a:ea typeface="Open Sans"/>
                <a:cs typeface="Open Sans"/>
                <a:sym typeface="Open Sans"/>
              </a:rPr>
              <a:t>Live</a:t>
            </a:r>
            <a:r>
              <a:rPr b="1" lang="en-US" sz="1800" u="sng">
                <a:solidFill>
                  <a:schemeClr val="dk1"/>
                </a:solidFill>
                <a:latin typeface="Arial"/>
                <a:ea typeface="Arial"/>
                <a:cs typeface="Arial"/>
                <a:sym typeface="Arial"/>
              </a:rPr>
              <a:t> </a:t>
            </a:r>
            <a:endParaRPr b="1" sz="1800" u="sng">
              <a:solidFill>
                <a:schemeClr val="dk1"/>
              </a:solidFill>
              <a:latin typeface="Arial"/>
              <a:ea typeface="Arial"/>
              <a:cs typeface="Arial"/>
              <a:sym typeface="Arial"/>
            </a:endParaRPr>
          </a:p>
        </p:txBody>
      </p:sp>
      <p:sp>
        <p:nvSpPr>
          <p:cNvPr id="289" name="Google Shape;289;g3da32cebd10_0_134"/>
          <p:cNvSpPr txBox="1"/>
          <p:nvPr/>
        </p:nvSpPr>
        <p:spPr>
          <a:xfrm>
            <a:off x="7807680" y="1250967"/>
            <a:ext cx="15453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Open Sans"/>
                <a:ea typeface="Open Sans"/>
                <a:cs typeface="Open Sans"/>
                <a:sym typeface="Open Sans"/>
              </a:rPr>
              <a:t>Backtest</a:t>
            </a:r>
            <a:endParaRPr b="1" sz="1800" u="sng">
              <a:solidFill>
                <a:schemeClr val="dk1"/>
              </a:solidFill>
              <a:latin typeface="Arial"/>
              <a:ea typeface="Arial"/>
              <a:cs typeface="Arial"/>
              <a:sym typeface="Arial"/>
            </a:endParaRPr>
          </a:p>
        </p:txBody>
      </p:sp>
      <p:pic>
        <p:nvPicPr>
          <p:cNvPr id="290" name="Google Shape;290;g3da32cebd10_0_134"/>
          <p:cNvPicPr preferRelativeResize="0"/>
          <p:nvPr/>
        </p:nvPicPr>
        <p:blipFill rotWithShape="1">
          <a:blip r:embed="rId4">
            <a:alphaModFix/>
          </a:blip>
          <a:srcRect b="0" l="0" r="0" t="0"/>
          <a:stretch/>
        </p:blipFill>
        <p:spPr>
          <a:xfrm>
            <a:off x="5522325" y="1929157"/>
            <a:ext cx="6669675" cy="2131659"/>
          </a:xfrm>
          <a:prstGeom prst="rect">
            <a:avLst/>
          </a:prstGeom>
          <a:noFill/>
          <a:ln>
            <a:noFill/>
          </a:ln>
        </p:spPr>
      </p:pic>
      <p:pic>
        <p:nvPicPr>
          <p:cNvPr id="291" name="Google Shape;291;g3da32cebd10_0_134"/>
          <p:cNvPicPr preferRelativeResize="0"/>
          <p:nvPr/>
        </p:nvPicPr>
        <p:blipFill rotWithShape="1">
          <a:blip r:embed="rId5">
            <a:alphaModFix/>
          </a:blip>
          <a:srcRect b="0" l="0" r="0" t="0"/>
          <a:stretch/>
        </p:blipFill>
        <p:spPr>
          <a:xfrm>
            <a:off x="229800" y="1853876"/>
            <a:ext cx="5131450" cy="2314528"/>
          </a:xfrm>
          <a:prstGeom prst="rect">
            <a:avLst/>
          </a:prstGeom>
          <a:noFill/>
          <a:ln>
            <a:noFill/>
          </a:ln>
        </p:spPr>
      </p:pic>
      <p:graphicFrame>
        <p:nvGraphicFramePr>
          <p:cNvPr id="292" name="Google Shape;292;g3da32cebd10_0_134"/>
          <p:cNvGraphicFramePr/>
          <p:nvPr/>
        </p:nvGraphicFramePr>
        <p:xfrm>
          <a:off x="7389630" y="2004946"/>
          <a:ext cx="3000000" cy="3000000"/>
        </p:xfrm>
        <a:graphic>
          <a:graphicData uri="http://schemas.openxmlformats.org/drawingml/2006/table">
            <a:tbl>
              <a:tblPr bandRow="1" firstRow="1">
                <a:noFill/>
                <a:tableStyleId>{3D3993AC-A8BA-486E-BD13-A86FE0C0E203}</a:tableStyleId>
              </a:tblPr>
              <a:tblGrid>
                <a:gridCol w="713825"/>
                <a:gridCol w="713825"/>
                <a:gridCol w="713825"/>
                <a:gridCol w="713825"/>
              </a:tblGrid>
              <a:tr h="190175">
                <a:tc gridSpan="4">
                  <a:txBody>
                    <a:bodyPr/>
                    <a:lstStyle/>
                    <a:p>
                      <a:pPr indent="0" lvl="0" marL="0" marR="0" rtl="0" algn="ctr">
                        <a:spcBef>
                          <a:spcPts val="0"/>
                        </a:spcBef>
                        <a:spcAft>
                          <a:spcPts val="0"/>
                        </a:spcAft>
                        <a:buNone/>
                      </a:pPr>
                      <a:r>
                        <a:rPr lang="en-US" sz="800" u="none" cap="none" strike="noStrike"/>
                        <a:t>Event-based backtest (Jan 2012 -  Jan 2026)</a:t>
                      </a:r>
                      <a:endParaRPr sz="800" u="none" cap="none" strike="noStrike"/>
                    </a:p>
                  </a:txBody>
                  <a:tcPr marT="45725" marB="45725" marR="91450" marL="91450" anchor="ctr"/>
                </a:tc>
                <a:tc hMerge="1"/>
                <a:tc hMerge="1"/>
                <a:tc hMerge="1"/>
              </a:tr>
              <a:tr h="190175">
                <a:tc>
                  <a:txBody>
                    <a:bodyPr/>
                    <a:lstStyle/>
                    <a:p>
                      <a:pPr indent="0" lvl="0" marL="0" marR="0" rtl="0" algn="ctr">
                        <a:spcBef>
                          <a:spcPts val="0"/>
                        </a:spcBef>
                        <a:spcAft>
                          <a:spcPts val="0"/>
                        </a:spcAft>
                        <a:buNone/>
                      </a:pPr>
                      <a:r>
                        <a:rPr lang="en-US" sz="800" u="none" cap="none" strike="noStrike"/>
                        <a:t>CAGR</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&gt;40%</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Max DD</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18.6</a:t>
                      </a:r>
                      <a:endParaRPr sz="800" u="none" cap="none" strike="noStrike"/>
                    </a:p>
                  </a:txBody>
                  <a:tcPr marT="45725" marB="45725" marR="91450" marL="91450" anchor="ctr"/>
                </a:tc>
              </a:tr>
              <a:tr h="190175">
                <a:tc>
                  <a:txBody>
                    <a:bodyPr/>
                    <a:lstStyle/>
                    <a:p>
                      <a:pPr indent="0" lvl="0" marL="0" marR="0" rtl="0" algn="ctr">
                        <a:spcBef>
                          <a:spcPts val="0"/>
                        </a:spcBef>
                        <a:spcAft>
                          <a:spcPts val="0"/>
                        </a:spcAft>
                        <a:buNone/>
                      </a:pPr>
                      <a:r>
                        <a:rPr lang="en-US" sz="800" u="none" cap="none" strike="noStrike"/>
                        <a:t>Sharpe</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1.9</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Sortino</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&gt;3</a:t>
                      </a:r>
                      <a:endParaRPr/>
                    </a:p>
                  </a:txBody>
                  <a:tcPr marT="45725" marB="45725" marR="91450" marL="91450" anchor="ctr"/>
                </a:tc>
              </a:tr>
              <a:tr h="190175">
                <a:tc>
                  <a:txBody>
                    <a:bodyPr/>
                    <a:lstStyle/>
                    <a:p>
                      <a:pPr indent="0" lvl="0" marL="0" marR="0" rtl="0" algn="ctr">
                        <a:spcBef>
                          <a:spcPts val="0"/>
                        </a:spcBef>
                        <a:spcAft>
                          <a:spcPts val="0"/>
                        </a:spcAft>
                        <a:buNone/>
                      </a:pPr>
                      <a:r>
                        <a:rPr lang="en-US" sz="800" u="none" cap="none" strike="noStrike"/>
                        <a:t>Turnover</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51%</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Expectancy</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&gt;1</a:t>
                      </a:r>
                      <a:endParaRPr sz="800" u="none" cap="none" strike="noStrike"/>
                    </a:p>
                  </a:txBody>
                  <a:tcPr marT="45725" marB="45725" marR="91450" marL="91450" anchor="ctr"/>
                </a:tc>
              </a:tr>
              <a:tr h="246025">
                <a:tc>
                  <a:txBody>
                    <a:bodyPr/>
                    <a:lstStyle/>
                    <a:p>
                      <a:pPr indent="0" lvl="0" marL="0" marR="0" rtl="0" algn="ctr">
                        <a:spcBef>
                          <a:spcPts val="0"/>
                        </a:spcBef>
                        <a:spcAft>
                          <a:spcPts val="0"/>
                        </a:spcAft>
                        <a:buNone/>
                      </a:pPr>
                      <a:r>
                        <a:rPr lang="en-US" sz="800" u="none" cap="none" strike="noStrike"/>
                        <a:t>Win rate</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52%</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Profit-Loss ratio</a:t>
                      </a:r>
                      <a:endParaRPr sz="800" u="none" cap="none" strike="noStrike"/>
                    </a:p>
                  </a:txBody>
                  <a:tcPr marT="45725" marB="45725" marR="91450" marL="91450" anchor="ctr"/>
                </a:tc>
                <a:tc>
                  <a:txBody>
                    <a:bodyPr/>
                    <a:lstStyle/>
                    <a:p>
                      <a:pPr indent="0" lvl="0" marL="0" marR="0" rtl="0" algn="ctr">
                        <a:spcBef>
                          <a:spcPts val="0"/>
                        </a:spcBef>
                        <a:spcAft>
                          <a:spcPts val="0"/>
                        </a:spcAft>
                        <a:buNone/>
                      </a:pPr>
                      <a:r>
                        <a:rPr lang="en-US" sz="800" u="none" cap="none" strike="noStrike"/>
                        <a:t>&gt;2</a:t>
                      </a:r>
                      <a:endParaRPr sz="800" u="none" cap="none" strike="noStrike"/>
                    </a:p>
                  </a:txBody>
                  <a:tcPr marT="45725" marB="45725" marR="91450" marL="91450" anchor="ctr"/>
                </a:tc>
              </a:tr>
            </a:tbl>
          </a:graphicData>
        </a:graphic>
      </p:graphicFrame>
      <p:pic>
        <p:nvPicPr>
          <p:cNvPr id="293" name="Google Shape;293;g3da32cebd10_0_134"/>
          <p:cNvPicPr preferRelativeResize="0"/>
          <p:nvPr/>
        </p:nvPicPr>
        <p:blipFill rotWithShape="1">
          <a:blip r:embed="rId6">
            <a:alphaModFix/>
          </a:blip>
          <a:srcRect b="0" l="0" r="0" t="0"/>
          <a:stretch/>
        </p:blipFill>
        <p:spPr>
          <a:xfrm>
            <a:off x="5522325" y="4350174"/>
            <a:ext cx="3309853" cy="2495184"/>
          </a:xfrm>
          <a:prstGeom prst="rect">
            <a:avLst/>
          </a:prstGeom>
          <a:noFill/>
          <a:ln>
            <a:noFill/>
          </a:ln>
        </p:spPr>
      </p:pic>
      <p:pic>
        <p:nvPicPr>
          <p:cNvPr id="294" name="Google Shape;294;g3da32cebd10_0_134"/>
          <p:cNvPicPr preferRelativeResize="0"/>
          <p:nvPr/>
        </p:nvPicPr>
        <p:blipFill rotWithShape="1">
          <a:blip r:embed="rId7">
            <a:alphaModFix/>
          </a:blip>
          <a:srcRect b="0" l="0" r="0" t="0"/>
          <a:stretch/>
        </p:blipFill>
        <p:spPr>
          <a:xfrm>
            <a:off x="229800" y="4375605"/>
            <a:ext cx="4995142" cy="2390396"/>
          </a:xfrm>
          <a:prstGeom prst="rect">
            <a:avLst/>
          </a:prstGeom>
          <a:noFill/>
          <a:ln>
            <a:noFill/>
          </a:ln>
        </p:spPr>
      </p:pic>
      <p:pic>
        <p:nvPicPr>
          <p:cNvPr id="295" name="Google Shape;295;g3da32cebd10_0_134"/>
          <p:cNvPicPr preferRelativeResize="0"/>
          <p:nvPr/>
        </p:nvPicPr>
        <p:blipFill rotWithShape="1">
          <a:blip r:embed="rId8">
            <a:alphaModFix/>
          </a:blip>
          <a:srcRect b="0" l="0" r="0" t="0"/>
          <a:stretch/>
        </p:blipFill>
        <p:spPr>
          <a:xfrm>
            <a:off x="9376612" y="4722267"/>
            <a:ext cx="2072771" cy="1964712"/>
          </a:xfrm>
          <a:prstGeom prst="rect">
            <a:avLst/>
          </a:prstGeom>
          <a:noFill/>
          <a:ln>
            <a:noFill/>
          </a:ln>
        </p:spPr>
      </p:pic>
      <p:pic>
        <p:nvPicPr>
          <p:cNvPr id="296" name="Google Shape;296;g3da32cebd10_0_134"/>
          <p:cNvPicPr preferRelativeResize="0"/>
          <p:nvPr/>
        </p:nvPicPr>
        <p:blipFill rotWithShape="1">
          <a:blip r:embed="rId9">
            <a:alphaModFix/>
          </a:blip>
          <a:srcRect b="0" l="0" r="0" t="0"/>
          <a:stretch/>
        </p:blipFill>
        <p:spPr>
          <a:xfrm>
            <a:off x="9614811" y="4250089"/>
            <a:ext cx="1521392" cy="28290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3da32cebd10_0_158"/>
          <p:cNvSpPr/>
          <p:nvPr/>
        </p:nvSpPr>
        <p:spPr>
          <a:xfrm>
            <a:off x="0" y="236875"/>
            <a:ext cx="8143175" cy="814125"/>
          </a:xfrm>
          <a:custGeom>
            <a:rect b="b" l="l" r="r" t="t"/>
            <a:pathLst>
              <a:path extrusionOk="0" h="32565" w="325727">
                <a:moveTo>
                  <a:pt x="0" y="0"/>
                </a:moveTo>
                <a:lnTo>
                  <a:pt x="0" y="31426"/>
                </a:lnTo>
                <a:lnTo>
                  <a:pt x="310115" y="32565"/>
                </a:lnTo>
                <a:lnTo>
                  <a:pt x="325727" y="784"/>
                </a:lnTo>
                <a:close/>
              </a:path>
            </a:pathLst>
          </a:custGeom>
          <a:solidFill>
            <a:srgbClr val="6390CE"/>
          </a:solidFill>
          <a:ln>
            <a:noFill/>
          </a:ln>
        </p:spPr>
      </p:sp>
      <p:sp>
        <p:nvSpPr>
          <p:cNvPr id="302" name="Google Shape;302;g3da32cebd10_0_158"/>
          <p:cNvSpPr/>
          <p:nvPr/>
        </p:nvSpPr>
        <p:spPr>
          <a:xfrm>
            <a:off x="486200" y="278700"/>
            <a:ext cx="7559400" cy="673800"/>
          </a:xfrm>
          <a:prstGeom prst="roundRect">
            <a:avLst>
              <a:gd fmla="val 0"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500">
                <a:solidFill>
                  <a:schemeClr val="lt1"/>
                </a:solidFill>
                <a:latin typeface="Open Sans"/>
                <a:ea typeface="Open Sans"/>
                <a:cs typeface="Open Sans"/>
                <a:sym typeface="Open Sans"/>
              </a:rPr>
              <a:t>Dynamic Allocation (US Tariffs &amp; Iran Crisis)</a:t>
            </a:r>
            <a:endParaRPr b="1" sz="2500">
              <a:solidFill>
                <a:schemeClr val="lt1"/>
              </a:solidFill>
              <a:latin typeface="Open Sans"/>
              <a:ea typeface="Open Sans"/>
              <a:cs typeface="Open Sans"/>
              <a:sym typeface="Open Sans"/>
            </a:endParaRPr>
          </a:p>
        </p:txBody>
      </p:sp>
      <p:pic>
        <p:nvPicPr>
          <p:cNvPr id="303" name="Google Shape;303;g3da32cebd10_0_158"/>
          <p:cNvPicPr preferRelativeResize="0"/>
          <p:nvPr/>
        </p:nvPicPr>
        <p:blipFill>
          <a:blip r:embed="rId3">
            <a:alphaModFix/>
          </a:blip>
          <a:stretch>
            <a:fillRect/>
          </a:stretch>
        </p:blipFill>
        <p:spPr>
          <a:xfrm>
            <a:off x="11004389" y="129417"/>
            <a:ext cx="1075787" cy="786250"/>
          </a:xfrm>
          <a:prstGeom prst="rect">
            <a:avLst/>
          </a:prstGeom>
          <a:noFill/>
          <a:ln>
            <a:noFill/>
          </a:ln>
        </p:spPr>
      </p:pic>
      <p:pic>
        <p:nvPicPr>
          <p:cNvPr id="304" name="Google Shape;304;g3da32cebd10_0_158"/>
          <p:cNvPicPr preferRelativeResize="0"/>
          <p:nvPr/>
        </p:nvPicPr>
        <p:blipFill>
          <a:blip r:embed="rId4">
            <a:alphaModFix/>
          </a:blip>
          <a:stretch>
            <a:fillRect/>
          </a:stretch>
        </p:blipFill>
        <p:spPr>
          <a:xfrm>
            <a:off x="152400" y="4437893"/>
            <a:ext cx="8302701" cy="2267707"/>
          </a:xfrm>
          <a:prstGeom prst="rect">
            <a:avLst/>
          </a:prstGeom>
          <a:noFill/>
          <a:ln>
            <a:noFill/>
          </a:ln>
        </p:spPr>
      </p:pic>
      <p:pic>
        <p:nvPicPr>
          <p:cNvPr id="305" name="Google Shape;305;g3da32cebd10_0_158"/>
          <p:cNvPicPr preferRelativeResize="0"/>
          <p:nvPr/>
        </p:nvPicPr>
        <p:blipFill>
          <a:blip r:embed="rId5">
            <a:alphaModFix/>
          </a:blip>
          <a:stretch>
            <a:fillRect/>
          </a:stretch>
        </p:blipFill>
        <p:spPr>
          <a:xfrm>
            <a:off x="152400" y="1203400"/>
            <a:ext cx="8304023" cy="3082094"/>
          </a:xfrm>
          <a:prstGeom prst="rect">
            <a:avLst/>
          </a:prstGeom>
          <a:noFill/>
          <a:ln>
            <a:noFill/>
          </a:ln>
        </p:spPr>
      </p:pic>
      <p:pic>
        <p:nvPicPr>
          <p:cNvPr id="306" name="Google Shape;306;g3da32cebd10_0_158"/>
          <p:cNvPicPr preferRelativeResize="0"/>
          <p:nvPr/>
        </p:nvPicPr>
        <p:blipFill>
          <a:blip r:embed="rId6">
            <a:alphaModFix/>
          </a:blip>
          <a:stretch>
            <a:fillRect/>
          </a:stretch>
        </p:blipFill>
        <p:spPr>
          <a:xfrm>
            <a:off x="3007350" y="1051000"/>
            <a:ext cx="5262850" cy="2615600"/>
          </a:xfrm>
          <a:prstGeom prst="rect">
            <a:avLst/>
          </a:prstGeom>
          <a:noFill/>
          <a:ln>
            <a:noFill/>
          </a:ln>
        </p:spPr>
      </p:pic>
      <p:pic>
        <p:nvPicPr>
          <p:cNvPr id="307" name="Google Shape;307;g3da32cebd10_0_158"/>
          <p:cNvPicPr preferRelativeResize="0"/>
          <p:nvPr/>
        </p:nvPicPr>
        <p:blipFill>
          <a:blip r:embed="rId7">
            <a:alphaModFix/>
          </a:blip>
          <a:stretch>
            <a:fillRect/>
          </a:stretch>
        </p:blipFill>
        <p:spPr>
          <a:xfrm>
            <a:off x="9079148" y="1461817"/>
            <a:ext cx="2590800" cy="31051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da32cebd10_0_192"/>
          <p:cNvSpPr/>
          <p:nvPr/>
        </p:nvSpPr>
        <p:spPr>
          <a:xfrm>
            <a:off x="0" y="236875"/>
            <a:ext cx="2735125" cy="814125"/>
          </a:xfrm>
          <a:custGeom>
            <a:rect b="b" l="l" r="r" t="t"/>
            <a:pathLst>
              <a:path extrusionOk="0" h="32565" w="109405">
                <a:moveTo>
                  <a:pt x="0" y="0"/>
                </a:moveTo>
                <a:lnTo>
                  <a:pt x="0" y="31426"/>
                </a:lnTo>
                <a:lnTo>
                  <a:pt x="96570" y="32565"/>
                </a:lnTo>
                <a:lnTo>
                  <a:pt x="109405" y="784"/>
                </a:lnTo>
                <a:close/>
              </a:path>
            </a:pathLst>
          </a:custGeom>
          <a:solidFill>
            <a:srgbClr val="6390CE"/>
          </a:solidFill>
          <a:ln>
            <a:noFill/>
          </a:ln>
        </p:spPr>
      </p:sp>
      <p:sp>
        <p:nvSpPr>
          <p:cNvPr id="313" name="Google Shape;313;g3da32cebd10_0_192"/>
          <p:cNvSpPr/>
          <p:nvPr/>
        </p:nvSpPr>
        <p:spPr>
          <a:xfrm>
            <a:off x="486200" y="278700"/>
            <a:ext cx="1719000" cy="673800"/>
          </a:xfrm>
          <a:prstGeom prst="roundRect">
            <a:avLst>
              <a:gd fmla="val 0"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500">
                <a:solidFill>
                  <a:schemeClr val="lt1"/>
                </a:solidFill>
                <a:latin typeface="Open Sans"/>
                <a:ea typeface="Open Sans"/>
                <a:cs typeface="Open Sans"/>
                <a:sym typeface="Open Sans"/>
              </a:rPr>
              <a:t>Valuation</a:t>
            </a:r>
            <a:endParaRPr b="1" sz="2500">
              <a:solidFill>
                <a:schemeClr val="lt1"/>
              </a:solidFill>
              <a:latin typeface="Open Sans"/>
              <a:ea typeface="Open Sans"/>
              <a:cs typeface="Open Sans"/>
              <a:sym typeface="Open Sans"/>
            </a:endParaRPr>
          </a:p>
        </p:txBody>
      </p:sp>
      <p:pic>
        <p:nvPicPr>
          <p:cNvPr id="314" name="Google Shape;314;g3da32cebd10_0_192"/>
          <p:cNvPicPr preferRelativeResize="0"/>
          <p:nvPr/>
        </p:nvPicPr>
        <p:blipFill>
          <a:blip r:embed="rId3">
            <a:alphaModFix/>
          </a:blip>
          <a:stretch>
            <a:fillRect/>
          </a:stretch>
        </p:blipFill>
        <p:spPr>
          <a:xfrm>
            <a:off x="11004389" y="129417"/>
            <a:ext cx="1075787" cy="786250"/>
          </a:xfrm>
          <a:prstGeom prst="rect">
            <a:avLst/>
          </a:prstGeom>
          <a:noFill/>
          <a:ln>
            <a:noFill/>
          </a:ln>
        </p:spPr>
      </p:pic>
      <p:sp>
        <p:nvSpPr>
          <p:cNvPr id="315" name="Google Shape;315;g3da32cebd10_0_192"/>
          <p:cNvSpPr txBox="1"/>
          <p:nvPr/>
        </p:nvSpPr>
        <p:spPr>
          <a:xfrm>
            <a:off x="2330688" y="1793411"/>
            <a:ext cx="1203300" cy="461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Base Strategies</a:t>
            </a:r>
            <a:endParaRPr sz="1200">
              <a:solidFill>
                <a:schemeClr val="lt1"/>
              </a:solidFill>
              <a:latin typeface="Arial"/>
              <a:ea typeface="Arial"/>
              <a:cs typeface="Arial"/>
              <a:sym typeface="Arial"/>
            </a:endParaRPr>
          </a:p>
        </p:txBody>
      </p:sp>
      <p:sp>
        <p:nvSpPr>
          <p:cNvPr id="316" name="Google Shape;316;g3da32cebd10_0_192"/>
          <p:cNvSpPr txBox="1"/>
          <p:nvPr/>
        </p:nvSpPr>
        <p:spPr>
          <a:xfrm>
            <a:off x="8658154" y="1724491"/>
            <a:ext cx="1203300" cy="461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Base Levered Strategies </a:t>
            </a:r>
            <a:endParaRPr sz="1200">
              <a:solidFill>
                <a:schemeClr val="lt1"/>
              </a:solidFill>
              <a:latin typeface="Arial"/>
              <a:ea typeface="Arial"/>
              <a:cs typeface="Arial"/>
              <a:sym typeface="Arial"/>
            </a:endParaRPr>
          </a:p>
        </p:txBody>
      </p:sp>
      <p:pic>
        <p:nvPicPr>
          <p:cNvPr id="317" name="Google Shape;317;g3da32cebd10_0_192"/>
          <p:cNvPicPr preferRelativeResize="0"/>
          <p:nvPr/>
        </p:nvPicPr>
        <p:blipFill rotWithShape="1">
          <a:blip r:embed="rId4">
            <a:alphaModFix/>
          </a:blip>
          <a:srcRect b="0" l="0" r="0" t="0"/>
          <a:stretch/>
        </p:blipFill>
        <p:spPr>
          <a:xfrm>
            <a:off x="0" y="1464850"/>
            <a:ext cx="6001673" cy="2835475"/>
          </a:xfrm>
          <a:prstGeom prst="rect">
            <a:avLst/>
          </a:prstGeom>
          <a:noFill/>
          <a:ln>
            <a:noFill/>
          </a:ln>
        </p:spPr>
      </p:pic>
      <p:pic>
        <p:nvPicPr>
          <p:cNvPr id="318" name="Google Shape;318;g3da32cebd10_0_192"/>
          <p:cNvPicPr preferRelativeResize="0"/>
          <p:nvPr/>
        </p:nvPicPr>
        <p:blipFill rotWithShape="1">
          <a:blip r:embed="rId5">
            <a:alphaModFix/>
          </a:blip>
          <a:srcRect b="0" l="0" r="0" t="0"/>
          <a:stretch/>
        </p:blipFill>
        <p:spPr>
          <a:xfrm>
            <a:off x="-55628" y="4241696"/>
            <a:ext cx="5953541" cy="2612720"/>
          </a:xfrm>
          <a:prstGeom prst="rect">
            <a:avLst/>
          </a:prstGeom>
          <a:noFill/>
          <a:ln>
            <a:noFill/>
          </a:ln>
        </p:spPr>
      </p:pic>
      <p:pic>
        <p:nvPicPr>
          <p:cNvPr id="319" name="Google Shape;319;g3da32cebd10_0_192"/>
          <p:cNvPicPr preferRelativeResize="0"/>
          <p:nvPr/>
        </p:nvPicPr>
        <p:blipFill rotWithShape="1">
          <a:blip r:embed="rId6">
            <a:alphaModFix/>
          </a:blip>
          <a:srcRect b="0" l="0" r="0" t="0"/>
          <a:stretch/>
        </p:blipFill>
        <p:spPr>
          <a:xfrm>
            <a:off x="6001674" y="1406237"/>
            <a:ext cx="6169337" cy="2835458"/>
          </a:xfrm>
          <a:prstGeom prst="rect">
            <a:avLst/>
          </a:prstGeom>
          <a:noFill/>
          <a:ln>
            <a:noFill/>
          </a:ln>
        </p:spPr>
      </p:pic>
      <p:pic>
        <p:nvPicPr>
          <p:cNvPr id="320" name="Google Shape;320;g3da32cebd10_0_192"/>
          <p:cNvPicPr preferRelativeResize="0"/>
          <p:nvPr/>
        </p:nvPicPr>
        <p:blipFill rotWithShape="1">
          <a:blip r:embed="rId7">
            <a:alphaModFix/>
          </a:blip>
          <a:srcRect b="0" l="0" r="0" t="0"/>
          <a:stretch/>
        </p:blipFill>
        <p:spPr>
          <a:xfrm>
            <a:off x="5953543" y="4271116"/>
            <a:ext cx="6217465" cy="2586883"/>
          </a:xfrm>
          <a:prstGeom prst="rect">
            <a:avLst/>
          </a:prstGeom>
          <a:noFill/>
          <a:ln>
            <a:noFill/>
          </a:ln>
        </p:spPr>
      </p:pic>
      <p:grpSp>
        <p:nvGrpSpPr>
          <p:cNvPr id="321" name="Google Shape;321;g3da32cebd10_0_192"/>
          <p:cNvGrpSpPr/>
          <p:nvPr/>
        </p:nvGrpSpPr>
        <p:grpSpPr>
          <a:xfrm>
            <a:off x="2777247" y="909879"/>
            <a:ext cx="396203" cy="400139"/>
            <a:chOff x="6860800" y="674653"/>
            <a:chExt cx="487755" cy="492600"/>
          </a:xfrm>
        </p:grpSpPr>
        <p:sp>
          <p:nvSpPr>
            <p:cNvPr id="322" name="Google Shape;322;g3da32cebd10_0_192"/>
            <p:cNvSpPr/>
            <p:nvPr/>
          </p:nvSpPr>
          <p:spPr>
            <a:xfrm>
              <a:off x="6860800" y="702525"/>
              <a:ext cx="461700" cy="461700"/>
            </a:xfrm>
            <a:prstGeom prst="ellipse">
              <a:avLst/>
            </a:prstGeom>
            <a:solidFill>
              <a:srgbClr val="78C92B"/>
            </a:solidFill>
            <a:ln>
              <a:noFill/>
            </a:ln>
          </p:spPr>
          <p:txBody>
            <a:bodyPr anchorCtr="0" anchor="ctr" bIns="74250" lIns="74250" spcFirstLastPara="1" rIns="74250" wrap="square" tIns="74250">
              <a:noAutofit/>
            </a:bodyPr>
            <a:lstStyle/>
            <a:p>
              <a:pPr indent="0" lvl="0" marL="0" rtl="0" algn="ctr">
                <a:spcBef>
                  <a:spcPts val="0"/>
                </a:spcBef>
                <a:spcAft>
                  <a:spcPts val="0"/>
                </a:spcAft>
                <a:buNone/>
              </a:pPr>
              <a:r>
                <a:t/>
              </a:r>
              <a:endParaRPr sz="1137"/>
            </a:p>
          </p:txBody>
        </p:sp>
        <p:sp>
          <p:nvSpPr>
            <p:cNvPr id="323" name="Google Shape;323;g3da32cebd10_0_192"/>
            <p:cNvSpPr txBox="1"/>
            <p:nvPr/>
          </p:nvSpPr>
          <p:spPr>
            <a:xfrm>
              <a:off x="6916555" y="674653"/>
              <a:ext cx="432000" cy="492600"/>
            </a:xfrm>
            <a:prstGeom prst="rect">
              <a:avLst/>
            </a:prstGeom>
            <a:noFill/>
            <a:ln>
              <a:noFill/>
            </a:ln>
          </p:spPr>
          <p:txBody>
            <a:bodyPr anchorCtr="0" anchor="t" bIns="74250" lIns="74250" spcFirstLastPara="1" rIns="74250" wrap="square" tIns="74250">
              <a:spAutoFit/>
            </a:bodyPr>
            <a:lstStyle/>
            <a:p>
              <a:pPr indent="0" lvl="0" marL="0" rtl="0" algn="l">
                <a:spcBef>
                  <a:spcPts val="0"/>
                </a:spcBef>
                <a:spcAft>
                  <a:spcPts val="0"/>
                </a:spcAft>
                <a:buNone/>
              </a:pPr>
              <a:r>
                <a:rPr b="1" lang="en-US" sz="1624">
                  <a:solidFill>
                    <a:schemeClr val="lt1"/>
                  </a:solidFill>
                </a:rPr>
                <a:t>A</a:t>
              </a:r>
              <a:endParaRPr b="1" sz="1624">
                <a:solidFill>
                  <a:schemeClr val="lt1"/>
                </a:solidFill>
              </a:endParaRPr>
            </a:p>
          </p:txBody>
        </p:sp>
      </p:grpSp>
      <p:grpSp>
        <p:nvGrpSpPr>
          <p:cNvPr id="324" name="Google Shape;324;g3da32cebd10_0_192"/>
          <p:cNvGrpSpPr/>
          <p:nvPr/>
        </p:nvGrpSpPr>
        <p:grpSpPr>
          <a:xfrm>
            <a:off x="2777247" y="4098989"/>
            <a:ext cx="396203" cy="400139"/>
            <a:chOff x="6860800" y="674653"/>
            <a:chExt cx="487755" cy="492600"/>
          </a:xfrm>
        </p:grpSpPr>
        <p:sp>
          <p:nvSpPr>
            <p:cNvPr id="325" name="Google Shape;325;g3da32cebd10_0_192"/>
            <p:cNvSpPr/>
            <p:nvPr/>
          </p:nvSpPr>
          <p:spPr>
            <a:xfrm>
              <a:off x="6860800" y="702525"/>
              <a:ext cx="461700" cy="461700"/>
            </a:xfrm>
            <a:prstGeom prst="ellipse">
              <a:avLst/>
            </a:prstGeom>
            <a:solidFill>
              <a:srgbClr val="78C92B"/>
            </a:solidFill>
            <a:ln>
              <a:noFill/>
            </a:ln>
          </p:spPr>
          <p:txBody>
            <a:bodyPr anchorCtr="0" anchor="ctr" bIns="74250" lIns="74250" spcFirstLastPara="1" rIns="74250" wrap="square" tIns="74250">
              <a:noAutofit/>
            </a:bodyPr>
            <a:lstStyle/>
            <a:p>
              <a:pPr indent="0" lvl="0" marL="0" rtl="0" algn="ctr">
                <a:spcBef>
                  <a:spcPts val="0"/>
                </a:spcBef>
                <a:spcAft>
                  <a:spcPts val="0"/>
                </a:spcAft>
                <a:buNone/>
              </a:pPr>
              <a:r>
                <a:t/>
              </a:r>
              <a:endParaRPr sz="1137"/>
            </a:p>
          </p:txBody>
        </p:sp>
        <p:sp>
          <p:nvSpPr>
            <p:cNvPr id="326" name="Google Shape;326;g3da32cebd10_0_192"/>
            <p:cNvSpPr txBox="1"/>
            <p:nvPr/>
          </p:nvSpPr>
          <p:spPr>
            <a:xfrm>
              <a:off x="6916555" y="674653"/>
              <a:ext cx="432000" cy="492600"/>
            </a:xfrm>
            <a:prstGeom prst="rect">
              <a:avLst/>
            </a:prstGeom>
            <a:noFill/>
            <a:ln>
              <a:noFill/>
            </a:ln>
          </p:spPr>
          <p:txBody>
            <a:bodyPr anchorCtr="0" anchor="t" bIns="74250" lIns="74250" spcFirstLastPara="1" rIns="74250" wrap="square" tIns="74250">
              <a:spAutoFit/>
            </a:bodyPr>
            <a:lstStyle/>
            <a:p>
              <a:pPr indent="0" lvl="0" marL="0" rtl="0" algn="l">
                <a:spcBef>
                  <a:spcPts val="0"/>
                </a:spcBef>
                <a:spcAft>
                  <a:spcPts val="0"/>
                </a:spcAft>
                <a:buNone/>
              </a:pPr>
              <a:r>
                <a:rPr b="1" lang="en-US" sz="1624">
                  <a:solidFill>
                    <a:schemeClr val="lt1"/>
                  </a:solidFill>
                </a:rPr>
                <a:t>B</a:t>
              </a:r>
              <a:endParaRPr b="1" sz="1624">
                <a:solidFill>
                  <a:schemeClr val="lt1"/>
                </a:solidFill>
              </a:endParaRPr>
            </a:p>
          </p:txBody>
        </p:sp>
      </p:grpSp>
      <p:grpSp>
        <p:nvGrpSpPr>
          <p:cNvPr id="327" name="Google Shape;327;g3da32cebd10_0_192"/>
          <p:cNvGrpSpPr/>
          <p:nvPr/>
        </p:nvGrpSpPr>
        <p:grpSpPr>
          <a:xfrm>
            <a:off x="8888229" y="993513"/>
            <a:ext cx="396203" cy="400139"/>
            <a:chOff x="6860800" y="674653"/>
            <a:chExt cx="487755" cy="492600"/>
          </a:xfrm>
        </p:grpSpPr>
        <p:sp>
          <p:nvSpPr>
            <p:cNvPr id="328" name="Google Shape;328;g3da32cebd10_0_192"/>
            <p:cNvSpPr/>
            <p:nvPr/>
          </p:nvSpPr>
          <p:spPr>
            <a:xfrm>
              <a:off x="6860800" y="702525"/>
              <a:ext cx="461700" cy="461700"/>
            </a:xfrm>
            <a:prstGeom prst="ellipse">
              <a:avLst/>
            </a:prstGeom>
            <a:solidFill>
              <a:srgbClr val="78C92B"/>
            </a:solidFill>
            <a:ln>
              <a:noFill/>
            </a:ln>
          </p:spPr>
          <p:txBody>
            <a:bodyPr anchorCtr="0" anchor="ctr" bIns="74250" lIns="74250" spcFirstLastPara="1" rIns="74250" wrap="square" tIns="74250">
              <a:noAutofit/>
            </a:bodyPr>
            <a:lstStyle/>
            <a:p>
              <a:pPr indent="0" lvl="0" marL="0" rtl="0" algn="ctr">
                <a:spcBef>
                  <a:spcPts val="0"/>
                </a:spcBef>
                <a:spcAft>
                  <a:spcPts val="0"/>
                </a:spcAft>
                <a:buNone/>
              </a:pPr>
              <a:r>
                <a:t/>
              </a:r>
              <a:endParaRPr sz="1137"/>
            </a:p>
          </p:txBody>
        </p:sp>
        <p:sp>
          <p:nvSpPr>
            <p:cNvPr id="329" name="Google Shape;329;g3da32cebd10_0_192"/>
            <p:cNvSpPr txBox="1"/>
            <p:nvPr/>
          </p:nvSpPr>
          <p:spPr>
            <a:xfrm>
              <a:off x="6916555" y="674653"/>
              <a:ext cx="432000" cy="492600"/>
            </a:xfrm>
            <a:prstGeom prst="rect">
              <a:avLst/>
            </a:prstGeom>
            <a:noFill/>
            <a:ln>
              <a:noFill/>
            </a:ln>
          </p:spPr>
          <p:txBody>
            <a:bodyPr anchorCtr="0" anchor="t" bIns="74250" lIns="74250" spcFirstLastPara="1" rIns="74250" wrap="square" tIns="74250">
              <a:spAutoFit/>
            </a:bodyPr>
            <a:lstStyle/>
            <a:p>
              <a:pPr indent="0" lvl="0" marL="0" rtl="0" algn="l">
                <a:spcBef>
                  <a:spcPts val="0"/>
                </a:spcBef>
                <a:spcAft>
                  <a:spcPts val="0"/>
                </a:spcAft>
                <a:buNone/>
              </a:pPr>
              <a:r>
                <a:rPr b="1" lang="en-US" sz="1624">
                  <a:solidFill>
                    <a:schemeClr val="lt1"/>
                  </a:solidFill>
                </a:rPr>
                <a:t>C</a:t>
              </a:r>
              <a:endParaRPr b="1" sz="1624">
                <a:solidFill>
                  <a:schemeClr val="lt1"/>
                </a:solidFill>
              </a:endParaRPr>
            </a:p>
          </p:txBody>
        </p:sp>
      </p:grpSp>
      <p:grpSp>
        <p:nvGrpSpPr>
          <p:cNvPr id="330" name="Google Shape;330;g3da32cebd10_0_192"/>
          <p:cNvGrpSpPr/>
          <p:nvPr/>
        </p:nvGrpSpPr>
        <p:grpSpPr>
          <a:xfrm>
            <a:off x="8888229" y="4118873"/>
            <a:ext cx="396203" cy="400139"/>
            <a:chOff x="6860800" y="674653"/>
            <a:chExt cx="487755" cy="492600"/>
          </a:xfrm>
        </p:grpSpPr>
        <p:sp>
          <p:nvSpPr>
            <p:cNvPr id="331" name="Google Shape;331;g3da32cebd10_0_192"/>
            <p:cNvSpPr/>
            <p:nvPr/>
          </p:nvSpPr>
          <p:spPr>
            <a:xfrm>
              <a:off x="6860800" y="702525"/>
              <a:ext cx="461700" cy="461700"/>
            </a:xfrm>
            <a:prstGeom prst="ellipse">
              <a:avLst/>
            </a:prstGeom>
            <a:solidFill>
              <a:srgbClr val="78C92B"/>
            </a:solidFill>
            <a:ln>
              <a:noFill/>
            </a:ln>
          </p:spPr>
          <p:txBody>
            <a:bodyPr anchorCtr="0" anchor="ctr" bIns="74250" lIns="74250" spcFirstLastPara="1" rIns="74250" wrap="square" tIns="74250">
              <a:noAutofit/>
            </a:bodyPr>
            <a:lstStyle/>
            <a:p>
              <a:pPr indent="0" lvl="0" marL="0" rtl="0" algn="ctr">
                <a:spcBef>
                  <a:spcPts val="0"/>
                </a:spcBef>
                <a:spcAft>
                  <a:spcPts val="0"/>
                </a:spcAft>
                <a:buNone/>
              </a:pPr>
              <a:r>
                <a:t/>
              </a:r>
              <a:endParaRPr sz="1137"/>
            </a:p>
          </p:txBody>
        </p:sp>
        <p:sp>
          <p:nvSpPr>
            <p:cNvPr id="332" name="Google Shape;332;g3da32cebd10_0_192"/>
            <p:cNvSpPr txBox="1"/>
            <p:nvPr/>
          </p:nvSpPr>
          <p:spPr>
            <a:xfrm>
              <a:off x="6916555" y="674653"/>
              <a:ext cx="432000" cy="492600"/>
            </a:xfrm>
            <a:prstGeom prst="rect">
              <a:avLst/>
            </a:prstGeom>
            <a:noFill/>
            <a:ln>
              <a:noFill/>
            </a:ln>
          </p:spPr>
          <p:txBody>
            <a:bodyPr anchorCtr="0" anchor="t" bIns="74250" lIns="74250" spcFirstLastPara="1" rIns="74250" wrap="square" tIns="74250">
              <a:spAutoFit/>
            </a:bodyPr>
            <a:lstStyle/>
            <a:p>
              <a:pPr indent="0" lvl="0" marL="0" rtl="0" algn="l">
                <a:spcBef>
                  <a:spcPts val="0"/>
                </a:spcBef>
                <a:spcAft>
                  <a:spcPts val="0"/>
                </a:spcAft>
                <a:buNone/>
              </a:pPr>
              <a:r>
                <a:rPr b="1" lang="en-US" sz="1624">
                  <a:solidFill>
                    <a:schemeClr val="lt1"/>
                  </a:solidFill>
                </a:rPr>
                <a:t>D</a:t>
              </a:r>
              <a:endParaRPr b="1" sz="1624">
                <a:solidFill>
                  <a:schemeClr val="lt1"/>
                </a:solidFil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2025-10-12T06:03:13Z</dcterms:created>
  <dc:creator>kelvin foo</dc:creator>
</cp:coreProperties>
</file>